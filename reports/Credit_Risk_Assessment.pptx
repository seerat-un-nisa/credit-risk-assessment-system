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Source Sans 3 Bold" charset="1" panose="020B0303030403020204"/>
      <p:regular r:id="rId18"/>
    </p:embeddedFont>
    <p:embeddedFont>
      <p:font typeface="Montserrat Bold" charset="1" panose="00000800000000000000"/>
      <p:regular r:id="rId19"/>
    </p:embeddedFont>
    <p:embeddedFont>
      <p:font typeface="Source Sans 3" charset="1" panose="020B0303030403020204"/>
      <p:regular r:id="rId20"/>
    </p:embeddedFont>
    <p:embeddedFont>
      <p:font typeface="IBM Plex Mono" charset="1" panose="020B0509050203000203"/>
      <p:regular r:id="rId21"/>
    </p:embeddedFont>
    <p:embeddedFont>
      <p:font typeface="IBM Plex Mono Bold" charset="1" panose="020B0809050203000203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8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82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715250" y="0"/>
            <a:ext cx="10572750" cy="9525000"/>
          </a:xfrm>
          <a:custGeom>
            <a:avLst/>
            <a:gdLst/>
            <a:ahLst/>
            <a:cxnLst/>
            <a:rect r="r" b="b" t="t" l="l"/>
            <a:pathLst>
              <a:path h="9525000" w="10572750">
                <a:moveTo>
                  <a:pt x="0" y="0"/>
                </a:moveTo>
                <a:lnTo>
                  <a:pt x="10572750" y="0"/>
                </a:lnTo>
                <a:lnTo>
                  <a:pt x="10572750" y="9525000"/>
                </a:lnTo>
                <a:lnTo>
                  <a:pt x="0" y="9525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080" t="0" r="-3008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82F">
                <a:alpha val="34902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57250" y="1543050"/>
            <a:ext cx="723900" cy="76200"/>
            <a:chOff x="0" y="0"/>
            <a:chExt cx="965200" cy="101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5200" cy="101600"/>
            </a:xfrm>
            <a:custGeom>
              <a:avLst/>
              <a:gdLst/>
              <a:ahLst/>
              <a:cxnLst/>
              <a:rect r="r" b="b" t="t" l="l"/>
              <a:pathLst>
                <a:path h="101600" w="965200">
                  <a:moveTo>
                    <a:pt x="0" y="0"/>
                  </a:moveTo>
                  <a:lnTo>
                    <a:pt x="965200" y="0"/>
                  </a:lnTo>
                  <a:lnTo>
                    <a:pt x="9652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45C2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9652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857250" y="1038225"/>
            <a:ext cx="61912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179" b="true">
                <a:solidFill>
                  <a:srgbClr val="45C2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INTERNSHIP DEFENSE  /  2026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57250" y="2114550"/>
            <a:ext cx="9906000" cy="1690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79"/>
              </a:lnSpc>
            </a:pPr>
            <a:r>
              <a:rPr lang="en-US" sz="64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Credit Risk</a:t>
            </a:r>
          </a:p>
          <a:p>
            <a:pPr algn="l">
              <a:lnSpc>
                <a:spcPts val="6579"/>
              </a:lnSpc>
            </a:pPr>
            <a:r>
              <a:rPr lang="en-US" sz="64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Assessment System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95350" y="4057650"/>
            <a:ext cx="74295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C7D8EB"/>
                </a:solidFill>
                <a:latin typeface="Source Sans 3"/>
                <a:ea typeface="Source Sans 3"/>
                <a:cs typeface="Source Sans 3"/>
                <a:sym typeface="Source Sans 3"/>
              </a:rPr>
              <a:t>Machine Learning Internship Project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95350" y="6800850"/>
            <a:ext cx="8858250" cy="938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8"/>
              </a:lnSpc>
            </a:pPr>
            <a:r>
              <a:rPr lang="en-US" sz="1575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SEERAT UN NISA</a:t>
            </a:r>
          </a:p>
          <a:p>
            <a:pPr algn="l">
              <a:lnSpc>
                <a:spcPts val="2598"/>
              </a:lnSpc>
            </a:pPr>
            <a:r>
              <a:rPr lang="en-US" sz="1575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CRH-2026-ML-025  •  CODE ROOM HUB  •  MACHINE LEARNING</a:t>
            </a:r>
          </a:p>
          <a:p>
            <a:pPr algn="l">
              <a:lnSpc>
                <a:spcPts val="2598"/>
              </a:lnSpc>
            </a:pPr>
            <a:r>
              <a:rPr lang="en-US" sz="1575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EVALUATION  /  AUGUST 31, 2026</a:t>
            </a:r>
          </a:p>
        </p:txBody>
      </p:sp>
      <p:sp>
        <p:nvSpPr>
          <p:cNvPr name="AutoShape 16" id="16"/>
          <p:cNvSpPr/>
          <p:nvPr/>
        </p:nvSpPr>
        <p:spPr>
          <a:xfrm>
            <a:off x="857250" y="9563100"/>
            <a:ext cx="16573500" cy="0"/>
          </a:xfrm>
          <a:prstGeom prst="line">
            <a:avLst/>
          </a:prstGeom>
          <a:ln cap="flat" w="9525">
            <a:solidFill>
              <a:srgbClr val="27415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857250" y="9753600"/>
            <a:ext cx="85725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96" b="true">
                <a:solidFill>
                  <a:srgbClr val="8FA9C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CODE ROOM HUB  •  MACHINE LEARNING INTERNSHIP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573500" y="9705975"/>
            <a:ext cx="85725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95"/>
              </a:lnSpc>
            </a:pPr>
            <a:r>
              <a:rPr lang="en-US" sz="1425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542925"/>
            <a:ext cx="666750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14" b="true">
                <a:solidFill>
                  <a:srgbClr val="1769E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01  /  CONTEXT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7250" y="1019175"/>
            <a:ext cx="142875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10233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 Statement &amp; Objectives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66750" y="2047875"/>
            <a:ext cx="6858000" cy="6667500"/>
            <a:chOff x="0" y="0"/>
            <a:chExt cx="9144000" cy="889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44000" cy="8890000"/>
            </a:xfrm>
            <a:custGeom>
              <a:avLst/>
              <a:gdLst/>
              <a:ahLst/>
              <a:cxnLst/>
              <a:rect r="r" b="b" t="t" l="l"/>
              <a:pathLst>
                <a:path h="8890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8890000"/>
                  </a:lnTo>
                  <a:lnTo>
                    <a:pt x="0" y="8890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9144000" cy="892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52500" y="2238375"/>
            <a:ext cx="361950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14" b="true">
                <a:solidFill>
                  <a:srgbClr val="1769E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WHY IT MATTERS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2500" y="2686050"/>
            <a:ext cx="6191250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 b="true">
                <a:solidFill>
                  <a:srgbClr val="10233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Default risk threatens lender resilience and broader financial stability.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2500" y="4448175"/>
            <a:ext cx="285750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14" b="true">
                <a:solidFill>
                  <a:srgbClr val="1769E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PROBLEM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2500" y="4848225"/>
            <a:ext cx="5905500" cy="621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60718A"/>
                </a:solidFill>
                <a:latin typeface="Source Sans 3"/>
                <a:ea typeface="Source Sans 3"/>
                <a:cs typeface="Source Sans 3"/>
                <a:sym typeface="Source Sans 3"/>
              </a:rPr>
              <a:t>Manual credit analysis is slow and inconsistent in quantifying risk.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2500" y="6391275"/>
            <a:ext cx="285750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14" b="true">
                <a:solidFill>
                  <a:srgbClr val="1769E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PROJECT GOAL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2500" y="6791325"/>
            <a:ext cx="5905500" cy="621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60718A"/>
                </a:solidFill>
                <a:latin typeface="Source Sans 3"/>
                <a:ea typeface="Source Sans 3"/>
                <a:cs typeface="Source Sans 3"/>
                <a:sym typeface="Source Sans 3"/>
              </a:rPr>
              <a:t>An end-to-end ML system that predicts default probability and delivers interpretable risk assessment.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191500" y="2238375"/>
            <a:ext cx="2619375" cy="1047750"/>
            <a:chOff x="0" y="0"/>
            <a:chExt cx="3492500" cy="1397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4925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492500">
                  <a:moveTo>
                    <a:pt x="73891" y="0"/>
                  </a:moveTo>
                  <a:lnTo>
                    <a:pt x="3418609" y="0"/>
                  </a:lnTo>
                  <a:cubicBezTo>
                    <a:pt x="3459418" y="0"/>
                    <a:pt x="3492500" y="33082"/>
                    <a:pt x="3492500" y="73891"/>
                  </a:cubicBezTo>
                  <a:lnTo>
                    <a:pt x="3492500" y="1323109"/>
                  </a:lnTo>
                  <a:cubicBezTo>
                    <a:pt x="3492500" y="1363918"/>
                    <a:pt x="3459418" y="1397000"/>
                    <a:pt x="3418609" y="1397000"/>
                  </a:cubicBezTo>
                  <a:lnTo>
                    <a:pt x="73891" y="1397000"/>
                  </a:lnTo>
                  <a:cubicBezTo>
                    <a:pt x="33082" y="1397000"/>
                    <a:pt x="0" y="1363918"/>
                    <a:pt x="0" y="1323109"/>
                  </a:cubicBezTo>
                  <a:lnTo>
                    <a:pt x="0" y="73891"/>
                  </a:lnTo>
                  <a:cubicBezTo>
                    <a:pt x="0" y="33082"/>
                    <a:pt x="33082" y="0"/>
                    <a:pt x="73891" y="0"/>
                  </a:cubicBezTo>
                  <a:close/>
                </a:path>
              </a:pathLst>
            </a:custGeom>
            <a:solidFill>
              <a:srgbClr val="176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19050"/>
              <a:ext cx="3492500" cy="1377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1  Exploratory Data Analysis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>
            <a:off x="10810875" y="2762250"/>
            <a:ext cx="285750" cy="0"/>
          </a:xfrm>
          <a:prstGeom prst="line">
            <a:avLst/>
          </a:prstGeom>
          <a:ln cap="rnd" w="19050">
            <a:solidFill>
              <a:srgbClr val="45C2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11191875" y="2238375"/>
            <a:ext cx="2619375" cy="1047750"/>
            <a:chOff x="0" y="0"/>
            <a:chExt cx="3492500" cy="1397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4925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492500">
                  <a:moveTo>
                    <a:pt x="73891" y="0"/>
                  </a:moveTo>
                  <a:lnTo>
                    <a:pt x="3418609" y="0"/>
                  </a:lnTo>
                  <a:cubicBezTo>
                    <a:pt x="3459418" y="0"/>
                    <a:pt x="3492500" y="33082"/>
                    <a:pt x="3492500" y="73891"/>
                  </a:cubicBezTo>
                  <a:lnTo>
                    <a:pt x="3492500" y="1323109"/>
                  </a:lnTo>
                  <a:cubicBezTo>
                    <a:pt x="3492500" y="1363918"/>
                    <a:pt x="3459418" y="1397000"/>
                    <a:pt x="3418609" y="1397000"/>
                  </a:cubicBezTo>
                  <a:lnTo>
                    <a:pt x="73891" y="1397000"/>
                  </a:lnTo>
                  <a:cubicBezTo>
                    <a:pt x="33082" y="1397000"/>
                    <a:pt x="0" y="1363918"/>
                    <a:pt x="0" y="1323109"/>
                  </a:cubicBezTo>
                  <a:lnTo>
                    <a:pt x="0" y="73891"/>
                  </a:lnTo>
                  <a:cubicBezTo>
                    <a:pt x="0" y="33082"/>
                    <a:pt x="33082" y="0"/>
                    <a:pt x="73891" y="0"/>
                  </a:cubicBezTo>
                  <a:close/>
                </a:path>
              </a:pathLst>
            </a:custGeom>
            <a:solidFill>
              <a:srgbClr val="176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19050"/>
              <a:ext cx="3492500" cy="1377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2  Feature Engineering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>
            <a:off x="13811250" y="2762250"/>
            <a:ext cx="285750" cy="0"/>
          </a:xfrm>
          <a:prstGeom prst="line">
            <a:avLst/>
          </a:prstGeom>
          <a:ln cap="rnd" w="19050">
            <a:solidFill>
              <a:srgbClr val="45C2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14192250" y="2238375"/>
            <a:ext cx="2619375" cy="1047750"/>
            <a:chOff x="0" y="0"/>
            <a:chExt cx="3492500" cy="1397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4925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492500">
                  <a:moveTo>
                    <a:pt x="73891" y="0"/>
                  </a:moveTo>
                  <a:lnTo>
                    <a:pt x="3418609" y="0"/>
                  </a:lnTo>
                  <a:cubicBezTo>
                    <a:pt x="3459418" y="0"/>
                    <a:pt x="3492500" y="33082"/>
                    <a:pt x="3492500" y="73891"/>
                  </a:cubicBezTo>
                  <a:lnTo>
                    <a:pt x="3492500" y="1323109"/>
                  </a:lnTo>
                  <a:cubicBezTo>
                    <a:pt x="3492500" y="1363918"/>
                    <a:pt x="3459418" y="1397000"/>
                    <a:pt x="3418609" y="1397000"/>
                  </a:cubicBezTo>
                  <a:lnTo>
                    <a:pt x="73891" y="1397000"/>
                  </a:lnTo>
                  <a:cubicBezTo>
                    <a:pt x="33082" y="1397000"/>
                    <a:pt x="0" y="1363918"/>
                    <a:pt x="0" y="1323109"/>
                  </a:cubicBezTo>
                  <a:lnTo>
                    <a:pt x="0" y="73891"/>
                  </a:lnTo>
                  <a:cubicBezTo>
                    <a:pt x="0" y="33082"/>
                    <a:pt x="33082" y="0"/>
                    <a:pt x="73891" y="0"/>
                  </a:cubicBezTo>
                  <a:close/>
                </a:path>
              </a:pathLst>
            </a:custGeom>
            <a:solidFill>
              <a:srgbClr val="176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19050"/>
              <a:ext cx="3492500" cy="1377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3  Preprocessing Pipeline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191500" y="3857625"/>
            <a:ext cx="2619375" cy="1047750"/>
            <a:chOff x="0" y="0"/>
            <a:chExt cx="3492500" cy="1397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4925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492500">
                  <a:moveTo>
                    <a:pt x="73891" y="0"/>
                  </a:moveTo>
                  <a:lnTo>
                    <a:pt x="3418609" y="0"/>
                  </a:lnTo>
                  <a:cubicBezTo>
                    <a:pt x="3459418" y="0"/>
                    <a:pt x="3492500" y="33082"/>
                    <a:pt x="3492500" y="73891"/>
                  </a:cubicBezTo>
                  <a:lnTo>
                    <a:pt x="3492500" y="1323109"/>
                  </a:lnTo>
                  <a:cubicBezTo>
                    <a:pt x="3492500" y="1363918"/>
                    <a:pt x="3459418" y="1397000"/>
                    <a:pt x="3418609" y="1397000"/>
                  </a:cubicBezTo>
                  <a:lnTo>
                    <a:pt x="73891" y="1397000"/>
                  </a:lnTo>
                  <a:cubicBezTo>
                    <a:pt x="33082" y="1397000"/>
                    <a:pt x="0" y="1363918"/>
                    <a:pt x="0" y="1323109"/>
                  </a:cubicBezTo>
                  <a:lnTo>
                    <a:pt x="0" y="73891"/>
                  </a:lnTo>
                  <a:cubicBezTo>
                    <a:pt x="0" y="33082"/>
                    <a:pt x="33082" y="0"/>
                    <a:pt x="73891" y="0"/>
                  </a:cubicBezTo>
                  <a:close/>
                </a:path>
              </a:pathLst>
            </a:custGeom>
            <a:solidFill>
              <a:srgbClr val="176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19050"/>
              <a:ext cx="3492500" cy="1377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4  Train Multiple ML Models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>
            <a:off x="10810875" y="4381500"/>
            <a:ext cx="285750" cy="0"/>
          </a:xfrm>
          <a:prstGeom prst="line">
            <a:avLst/>
          </a:prstGeom>
          <a:ln cap="rnd" w="19050">
            <a:solidFill>
              <a:srgbClr val="45C2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11191875" y="3857625"/>
            <a:ext cx="2619375" cy="1047750"/>
            <a:chOff x="0" y="0"/>
            <a:chExt cx="3492500" cy="1397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4925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492500">
                  <a:moveTo>
                    <a:pt x="73891" y="0"/>
                  </a:moveTo>
                  <a:lnTo>
                    <a:pt x="3418609" y="0"/>
                  </a:lnTo>
                  <a:cubicBezTo>
                    <a:pt x="3459418" y="0"/>
                    <a:pt x="3492500" y="33082"/>
                    <a:pt x="3492500" y="73891"/>
                  </a:cubicBezTo>
                  <a:lnTo>
                    <a:pt x="3492500" y="1323109"/>
                  </a:lnTo>
                  <a:cubicBezTo>
                    <a:pt x="3492500" y="1363918"/>
                    <a:pt x="3459418" y="1397000"/>
                    <a:pt x="3418609" y="1397000"/>
                  </a:cubicBezTo>
                  <a:lnTo>
                    <a:pt x="73891" y="1397000"/>
                  </a:lnTo>
                  <a:cubicBezTo>
                    <a:pt x="33082" y="1397000"/>
                    <a:pt x="0" y="1363918"/>
                    <a:pt x="0" y="1323109"/>
                  </a:cubicBezTo>
                  <a:lnTo>
                    <a:pt x="0" y="73891"/>
                  </a:lnTo>
                  <a:cubicBezTo>
                    <a:pt x="0" y="33082"/>
                    <a:pt x="33082" y="0"/>
                    <a:pt x="73891" y="0"/>
                  </a:cubicBezTo>
                  <a:close/>
                </a:path>
              </a:pathLst>
            </a:custGeom>
            <a:solidFill>
              <a:srgbClr val="176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19050"/>
              <a:ext cx="3492500" cy="1377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5  Compare Model Performance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>
            <a:off x="13811250" y="4381500"/>
            <a:ext cx="285750" cy="0"/>
          </a:xfrm>
          <a:prstGeom prst="line">
            <a:avLst/>
          </a:prstGeom>
          <a:ln cap="rnd" w="19050">
            <a:solidFill>
              <a:srgbClr val="45C2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0">
            <a:off x="14192250" y="3857625"/>
            <a:ext cx="2619375" cy="1047750"/>
            <a:chOff x="0" y="0"/>
            <a:chExt cx="3492500" cy="1397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4925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492500">
                  <a:moveTo>
                    <a:pt x="73891" y="0"/>
                  </a:moveTo>
                  <a:lnTo>
                    <a:pt x="3418609" y="0"/>
                  </a:lnTo>
                  <a:cubicBezTo>
                    <a:pt x="3459418" y="0"/>
                    <a:pt x="3492500" y="33082"/>
                    <a:pt x="3492500" y="73891"/>
                  </a:cubicBezTo>
                  <a:lnTo>
                    <a:pt x="3492500" y="1323109"/>
                  </a:lnTo>
                  <a:cubicBezTo>
                    <a:pt x="3492500" y="1363918"/>
                    <a:pt x="3459418" y="1397000"/>
                    <a:pt x="3418609" y="1397000"/>
                  </a:cubicBezTo>
                  <a:lnTo>
                    <a:pt x="73891" y="1397000"/>
                  </a:lnTo>
                  <a:cubicBezTo>
                    <a:pt x="33082" y="1397000"/>
                    <a:pt x="0" y="1363918"/>
                    <a:pt x="0" y="1323109"/>
                  </a:cubicBezTo>
                  <a:lnTo>
                    <a:pt x="0" y="73891"/>
                  </a:lnTo>
                  <a:cubicBezTo>
                    <a:pt x="0" y="33082"/>
                    <a:pt x="33082" y="0"/>
                    <a:pt x="73891" y="0"/>
                  </a:cubicBezTo>
                  <a:close/>
                </a:path>
              </a:pathLst>
            </a:custGeom>
            <a:solidFill>
              <a:srgbClr val="176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19050"/>
              <a:ext cx="3492500" cy="1377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6  Hyperparameter Tuning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191500" y="5476875"/>
            <a:ext cx="2619375" cy="1047750"/>
            <a:chOff x="0" y="0"/>
            <a:chExt cx="3492500" cy="1397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4925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492500">
                  <a:moveTo>
                    <a:pt x="73891" y="0"/>
                  </a:moveTo>
                  <a:lnTo>
                    <a:pt x="3418609" y="0"/>
                  </a:lnTo>
                  <a:cubicBezTo>
                    <a:pt x="3459418" y="0"/>
                    <a:pt x="3492500" y="33082"/>
                    <a:pt x="3492500" y="73891"/>
                  </a:cubicBezTo>
                  <a:lnTo>
                    <a:pt x="3492500" y="1323109"/>
                  </a:lnTo>
                  <a:cubicBezTo>
                    <a:pt x="3492500" y="1363918"/>
                    <a:pt x="3459418" y="1397000"/>
                    <a:pt x="3418609" y="1397000"/>
                  </a:cubicBezTo>
                  <a:lnTo>
                    <a:pt x="73891" y="1397000"/>
                  </a:lnTo>
                  <a:cubicBezTo>
                    <a:pt x="33082" y="1397000"/>
                    <a:pt x="0" y="1363918"/>
                    <a:pt x="0" y="1323109"/>
                  </a:cubicBezTo>
                  <a:lnTo>
                    <a:pt x="0" y="73891"/>
                  </a:lnTo>
                  <a:cubicBezTo>
                    <a:pt x="0" y="33082"/>
                    <a:pt x="33082" y="0"/>
                    <a:pt x="73891" y="0"/>
                  </a:cubicBezTo>
                  <a:close/>
                </a:path>
              </a:pathLst>
            </a:custGeom>
            <a:solidFill>
              <a:srgbClr val="176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19050"/>
              <a:ext cx="3492500" cy="1377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7  Cross-Validation</a:t>
              </a:r>
            </a:p>
          </p:txBody>
        </p:sp>
      </p:grpSp>
      <p:sp>
        <p:nvSpPr>
          <p:cNvPr name="AutoShape 38" id="38"/>
          <p:cNvSpPr/>
          <p:nvPr/>
        </p:nvSpPr>
        <p:spPr>
          <a:xfrm>
            <a:off x="10810875" y="6000750"/>
            <a:ext cx="285750" cy="0"/>
          </a:xfrm>
          <a:prstGeom prst="line">
            <a:avLst/>
          </a:prstGeom>
          <a:ln cap="rnd" w="19050">
            <a:solidFill>
              <a:srgbClr val="45C2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9" id="39"/>
          <p:cNvGrpSpPr/>
          <p:nvPr/>
        </p:nvGrpSpPr>
        <p:grpSpPr>
          <a:xfrm rot="0">
            <a:off x="11191875" y="5476875"/>
            <a:ext cx="2619375" cy="1047750"/>
            <a:chOff x="0" y="0"/>
            <a:chExt cx="3492500" cy="1397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4925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492500">
                  <a:moveTo>
                    <a:pt x="73891" y="0"/>
                  </a:moveTo>
                  <a:lnTo>
                    <a:pt x="3418609" y="0"/>
                  </a:lnTo>
                  <a:cubicBezTo>
                    <a:pt x="3459418" y="0"/>
                    <a:pt x="3492500" y="33082"/>
                    <a:pt x="3492500" y="73891"/>
                  </a:cubicBezTo>
                  <a:lnTo>
                    <a:pt x="3492500" y="1323109"/>
                  </a:lnTo>
                  <a:cubicBezTo>
                    <a:pt x="3492500" y="1363918"/>
                    <a:pt x="3459418" y="1397000"/>
                    <a:pt x="3418609" y="1397000"/>
                  </a:cubicBezTo>
                  <a:lnTo>
                    <a:pt x="73891" y="1397000"/>
                  </a:lnTo>
                  <a:cubicBezTo>
                    <a:pt x="33082" y="1397000"/>
                    <a:pt x="0" y="1363918"/>
                    <a:pt x="0" y="1323109"/>
                  </a:cubicBezTo>
                  <a:lnTo>
                    <a:pt x="0" y="73891"/>
                  </a:lnTo>
                  <a:cubicBezTo>
                    <a:pt x="0" y="33082"/>
                    <a:pt x="33082" y="0"/>
                    <a:pt x="73891" y="0"/>
                  </a:cubicBezTo>
                  <a:close/>
                </a:path>
              </a:pathLst>
            </a:custGeom>
            <a:solidFill>
              <a:srgbClr val="176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19050"/>
              <a:ext cx="3492500" cy="1377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8  SHAP Explainability</a:t>
              </a:r>
            </a:p>
          </p:txBody>
        </p:sp>
      </p:grpSp>
      <p:sp>
        <p:nvSpPr>
          <p:cNvPr name="AutoShape 42" id="42"/>
          <p:cNvSpPr/>
          <p:nvPr/>
        </p:nvSpPr>
        <p:spPr>
          <a:xfrm>
            <a:off x="13811250" y="6000750"/>
            <a:ext cx="285750" cy="0"/>
          </a:xfrm>
          <a:prstGeom prst="line">
            <a:avLst/>
          </a:prstGeom>
          <a:ln cap="rnd" w="19050">
            <a:solidFill>
              <a:srgbClr val="45C2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3" id="43"/>
          <p:cNvGrpSpPr/>
          <p:nvPr/>
        </p:nvGrpSpPr>
        <p:grpSpPr>
          <a:xfrm rot="0">
            <a:off x="14192250" y="5476875"/>
            <a:ext cx="2619375" cy="1047750"/>
            <a:chOff x="0" y="0"/>
            <a:chExt cx="3492500" cy="13970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4925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492500">
                  <a:moveTo>
                    <a:pt x="73891" y="0"/>
                  </a:moveTo>
                  <a:lnTo>
                    <a:pt x="3418609" y="0"/>
                  </a:lnTo>
                  <a:cubicBezTo>
                    <a:pt x="3459418" y="0"/>
                    <a:pt x="3492500" y="33082"/>
                    <a:pt x="3492500" y="73891"/>
                  </a:cubicBezTo>
                  <a:lnTo>
                    <a:pt x="3492500" y="1323109"/>
                  </a:lnTo>
                  <a:cubicBezTo>
                    <a:pt x="3492500" y="1363918"/>
                    <a:pt x="3459418" y="1397000"/>
                    <a:pt x="3418609" y="1397000"/>
                  </a:cubicBezTo>
                  <a:lnTo>
                    <a:pt x="73891" y="1397000"/>
                  </a:lnTo>
                  <a:cubicBezTo>
                    <a:pt x="33082" y="1397000"/>
                    <a:pt x="0" y="1363918"/>
                    <a:pt x="0" y="1323109"/>
                  </a:cubicBezTo>
                  <a:lnTo>
                    <a:pt x="0" y="73891"/>
                  </a:lnTo>
                  <a:cubicBezTo>
                    <a:pt x="0" y="33082"/>
                    <a:pt x="33082" y="0"/>
                    <a:pt x="73891" y="0"/>
                  </a:cubicBezTo>
                  <a:close/>
                </a:path>
              </a:pathLst>
            </a:custGeom>
            <a:solidFill>
              <a:srgbClr val="10233F"/>
            </a:solidFill>
            <a:ln cap="sq">
              <a:noFill/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19050"/>
              <a:ext cx="3492500" cy="1377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9  REST API Development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8191500" y="7096125"/>
            <a:ext cx="2619375" cy="1047750"/>
            <a:chOff x="0" y="0"/>
            <a:chExt cx="3492500" cy="13970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4925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492500">
                  <a:moveTo>
                    <a:pt x="73891" y="0"/>
                  </a:moveTo>
                  <a:lnTo>
                    <a:pt x="3418609" y="0"/>
                  </a:lnTo>
                  <a:cubicBezTo>
                    <a:pt x="3459418" y="0"/>
                    <a:pt x="3492500" y="33082"/>
                    <a:pt x="3492500" y="73891"/>
                  </a:cubicBezTo>
                  <a:lnTo>
                    <a:pt x="3492500" y="1323109"/>
                  </a:lnTo>
                  <a:cubicBezTo>
                    <a:pt x="3492500" y="1363918"/>
                    <a:pt x="3459418" y="1397000"/>
                    <a:pt x="3418609" y="1397000"/>
                  </a:cubicBezTo>
                  <a:lnTo>
                    <a:pt x="73891" y="1397000"/>
                  </a:lnTo>
                  <a:cubicBezTo>
                    <a:pt x="33082" y="1397000"/>
                    <a:pt x="0" y="1363918"/>
                    <a:pt x="0" y="1323109"/>
                  </a:cubicBezTo>
                  <a:lnTo>
                    <a:pt x="0" y="73891"/>
                  </a:lnTo>
                  <a:cubicBezTo>
                    <a:pt x="0" y="33082"/>
                    <a:pt x="33082" y="0"/>
                    <a:pt x="73891" y="0"/>
                  </a:cubicBezTo>
                  <a:close/>
                </a:path>
              </a:pathLst>
            </a:custGeom>
            <a:solidFill>
              <a:srgbClr val="10233F"/>
            </a:solidFill>
            <a:ln cap="sq">
              <a:noFill/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19050"/>
              <a:ext cx="3492500" cy="1377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10  Streamlit Dashboard Creation</a:t>
              </a:r>
            </a:p>
          </p:txBody>
        </p:sp>
      </p:grpSp>
      <p:sp>
        <p:nvSpPr>
          <p:cNvPr name="AutoShape 49" id="49"/>
          <p:cNvSpPr/>
          <p:nvPr/>
        </p:nvSpPr>
        <p:spPr>
          <a:xfrm>
            <a:off x="10810875" y="7620000"/>
            <a:ext cx="285750" cy="0"/>
          </a:xfrm>
          <a:prstGeom prst="line">
            <a:avLst/>
          </a:prstGeom>
          <a:ln cap="rnd" w="19050">
            <a:solidFill>
              <a:srgbClr val="45C2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0" id="50"/>
          <p:cNvGrpSpPr/>
          <p:nvPr/>
        </p:nvGrpSpPr>
        <p:grpSpPr>
          <a:xfrm rot="0">
            <a:off x="11191875" y="7096125"/>
            <a:ext cx="2619375" cy="1047750"/>
            <a:chOff x="0" y="0"/>
            <a:chExt cx="3492500" cy="13970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4925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492500">
                  <a:moveTo>
                    <a:pt x="73891" y="0"/>
                  </a:moveTo>
                  <a:lnTo>
                    <a:pt x="3418609" y="0"/>
                  </a:lnTo>
                  <a:cubicBezTo>
                    <a:pt x="3459418" y="0"/>
                    <a:pt x="3492500" y="33082"/>
                    <a:pt x="3492500" y="73891"/>
                  </a:cubicBezTo>
                  <a:lnTo>
                    <a:pt x="3492500" y="1323109"/>
                  </a:lnTo>
                  <a:cubicBezTo>
                    <a:pt x="3492500" y="1363918"/>
                    <a:pt x="3459418" y="1397000"/>
                    <a:pt x="3418609" y="1397000"/>
                  </a:cubicBezTo>
                  <a:lnTo>
                    <a:pt x="73891" y="1397000"/>
                  </a:lnTo>
                  <a:cubicBezTo>
                    <a:pt x="33082" y="1397000"/>
                    <a:pt x="0" y="1363918"/>
                    <a:pt x="0" y="1323109"/>
                  </a:cubicBezTo>
                  <a:lnTo>
                    <a:pt x="0" y="73891"/>
                  </a:lnTo>
                  <a:cubicBezTo>
                    <a:pt x="0" y="33082"/>
                    <a:pt x="33082" y="0"/>
                    <a:pt x="73891" y="0"/>
                  </a:cubicBezTo>
                  <a:close/>
                </a:path>
              </a:pathLst>
            </a:custGeom>
            <a:solidFill>
              <a:srgbClr val="10233F"/>
            </a:solidFill>
            <a:ln cap="sq">
              <a:noFill/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0" y="19050"/>
              <a:ext cx="3492500" cy="1377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11  Docker Containerization</a:t>
              </a:r>
            </a:p>
          </p:txBody>
        </p:sp>
      </p:grpSp>
      <p:sp>
        <p:nvSpPr>
          <p:cNvPr name="AutoShape 53" id="53"/>
          <p:cNvSpPr/>
          <p:nvPr/>
        </p:nvSpPr>
        <p:spPr>
          <a:xfrm>
            <a:off x="13811250" y="7620000"/>
            <a:ext cx="285750" cy="0"/>
          </a:xfrm>
          <a:prstGeom prst="line">
            <a:avLst/>
          </a:prstGeom>
          <a:ln cap="rnd" w="19050">
            <a:solidFill>
              <a:srgbClr val="45C2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4" id="54"/>
          <p:cNvGrpSpPr/>
          <p:nvPr/>
        </p:nvGrpSpPr>
        <p:grpSpPr>
          <a:xfrm rot="0">
            <a:off x="14192250" y="7096125"/>
            <a:ext cx="2619375" cy="1047750"/>
            <a:chOff x="0" y="0"/>
            <a:chExt cx="3492500" cy="13970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4925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492500">
                  <a:moveTo>
                    <a:pt x="73891" y="0"/>
                  </a:moveTo>
                  <a:lnTo>
                    <a:pt x="3418609" y="0"/>
                  </a:lnTo>
                  <a:cubicBezTo>
                    <a:pt x="3459418" y="0"/>
                    <a:pt x="3492500" y="33082"/>
                    <a:pt x="3492500" y="73891"/>
                  </a:cubicBezTo>
                  <a:lnTo>
                    <a:pt x="3492500" y="1323109"/>
                  </a:lnTo>
                  <a:cubicBezTo>
                    <a:pt x="3492500" y="1363918"/>
                    <a:pt x="3459418" y="1397000"/>
                    <a:pt x="3418609" y="1397000"/>
                  </a:cubicBezTo>
                  <a:lnTo>
                    <a:pt x="73891" y="1397000"/>
                  </a:lnTo>
                  <a:cubicBezTo>
                    <a:pt x="33082" y="1397000"/>
                    <a:pt x="0" y="1363918"/>
                    <a:pt x="0" y="1323109"/>
                  </a:cubicBezTo>
                  <a:lnTo>
                    <a:pt x="0" y="73891"/>
                  </a:lnTo>
                  <a:cubicBezTo>
                    <a:pt x="0" y="33082"/>
                    <a:pt x="33082" y="0"/>
                    <a:pt x="73891" y="0"/>
                  </a:cubicBezTo>
                  <a:close/>
                </a:path>
              </a:pathLst>
            </a:custGeom>
            <a:solidFill>
              <a:srgbClr val="10233F"/>
            </a:solidFill>
            <a:ln cap="sq">
              <a:noFill/>
              <a:prstDash val="solid"/>
              <a:miter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0" y="19050"/>
              <a:ext cx="3492500" cy="1377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12  Deployment on Railway</a:t>
              </a:r>
            </a:p>
          </p:txBody>
        </p:sp>
      </p:grpSp>
      <p:sp>
        <p:nvSpPr>
          <p:cNvPr name="AutoShape 57" id="57"/>
          <p:cNvSpPr/>
          <p:nvPr/>
        </p:nvSpPr>
        <p:spPr>
          <a:xfrm>
            <a:off x="857250" y="9563100"/>
            <a:ext cx="16573500" cy="0"/>
          </a:xfrm>
          <a:prstGeom prst="line">
            <a:avLst/>
          </a:prstGeom>
          <a:ln cap="flat" w="9525">
            <a:solidFill>
              <a:srgbClr val="D9E3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8" id="58"/>
          <p:cNvSpPr txBox="true"/>
          <p:nvPr/>
        </p:nvSpPr>
        <p:spPr>
          <a:xfrm rot="0">
            <a:off x="857250" y="9753600"/>
            <a:ext cx="85725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96" b="true">
                <a:solidFill>
                  <a:srgbClr val="60718A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CODE ROOM HUB  •  MACHINE LEARNING INTERNSHIP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6573500" y="9705975"/>
            <a:ext cx="85725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95"/>
              </a:lnSpc>
            </a:pPr>
            <a:r>
              <a:rPr lang="en-US" sz="1425">
                <a:solidFill>
                  <a:srgbClr val="10233F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542925"/>
            <a:ext cx="666750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14" b="true">
                <a:solidFill>
                  <a:srgbClr val="1769E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02  /  DATA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7250" y="1019175"/>
            <a:ext cx="142875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10233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Dataset &amp; Exploratory Data Analysis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2500" y="2133600"/>
            <a:ext cx="4095750" cy="92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 b="true">
                <a:solidFill>
                  <a:srgbClr val="1769E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255,347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00125" y="3067050"/>
            <a:ext cx="285750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14" b="true">
                <a:solidFill>
                  <a:srgbClr val="1769E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RECORDS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381625" y="2133600"/>
            <a:ext cx="2381250" cy="92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 b="true">
                <a:solidFill>
                  <a:srgbClr val="10233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18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429250" y="3067050"/>
            <a:ext cx="285750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14" b="true">
                <a:solidFill>
                  <a:srgbClr val="1769E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ORIGINAL COLUMNS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2500" y="3867150"/>
            <a:ext cx="4762500" cy="378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550" b="true">
                <a:solidFill>
                  <a:srgbClr val="10233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TARGET  /  DEFAULT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52500" y="4810125"/>
            <a:ext cx="7410450" cy="1066800"/>
            <a:chOff x="0" y="0"/>
            <a:chExt cx="9880600" cy="1422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8806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9880600">
                  <a:moveTo>
                    <a:pt x="0" y="0"/>
                  </a:moveTo>
                  <a:lnTo>
                    <a:pt x="9880600" y="0"/>
                  </a:lnTo>
                  <a:lnTo>
                    <a:pt x="9880600" y="1422400"/>
                  </a:lnTo>
                  <a:lnTo>
                    <a:pt x="0" y="1422400"/>
                  </a:lnTo>
                  <a:close/>
                </a:path>
              </a:pathLst>
            </a:custGeom>
            <a:solidFill>
              <a:srgbClr val="176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9880600" cy="146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362950" y="4810125"/>
            <a:ext cx="971550" cy="1066800"/>
            <a:chOff x="0" y="0"/>
            <a:chExt cx="1295400" cy="1422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954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1295400">
                  <a:moveTo>
                    <a:pt x="0" y="0"/>
                  </a:moveTo>
                  <a:lnTo>
                    <a:pt x="1295400" y="0"/>
                  </a:lnTo>
                  <a:lnTo>
                    <a:pt x="1295400" y="1422400"/>
                  </a:lnTo>
                  <a:lnTo>
                    <a:pt x="0" y="1422400"/>
                  </a:lnTo>
                  <a:close/>
                </a:path>
              </a:pathLst>
            </a:custGeom>
            <a:solidFill>
              <a:srgbClr val="DF5263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295400" cy="146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238250" y="5086350"/>
            <a:ext cx="5334000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true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Default = 0   88.39%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543800" y="5095875"/>
            <a:ext cx="1524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true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11.61%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2500" y="6210300"/>
            <a:ext cx="809625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60718A"/>
                </a:solidFill>
                <a:latin typeface="Source Sans 3"/>
                <a:ea typeface="Source Sans 3"/>
                <a:cs typeface="Source Sans 3"/>
                <a:sym typeface="Source Sans 3"/>
              </a:rPr>
              <a:t>Dataset is imbalanced towards non-default cases.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096500" y="5953125"/>
            <a:ext cx="7048500" cy="2857500"/>
            <a:chOff x="0" y="0"/>
            <a:chExt cx="9398000" cy="3810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398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9398000">
                  <a:moveTo>
                    <a:pt x="0" y="0"/>
                  </a:moveTo>
                  <a:lnTo>
                    <a:pt x="9398000" y="0"/>
                  </a:lnTo>
                  <a:lnTo>
                    <a:pt x="93980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3980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572750" y="6162675"/>
            <a:ext cx="619125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14" b="true">
                <a:solidFill>
                  <a:srgbClr val="1769E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SELECTED CORRELATIONS WITH DEFAULT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572750" y="6619875"/>
            <a:ext cx="5238750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10233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Age   −0.1678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572750" y="7239000"/>
            <a:ext cx="6191250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true">
                <a:solidFill>
                  <a:srgbClr val="1769E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InterestRate   +0.1313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572750" y="8172450"/>
            <a:ext cx="619125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350">
                <a:solidFill>
                  <a:srgbClr val="60718A"/>
                </a:solidFill>
                <a:latin typeface="Source Sans 3"/>
                <a:ea typeface="Source Sans 3"/>
                <a:cs typeface="Source Sans 3"/>
                <a:sym typeface="Source Sans 3"/>
              </a:rPr>
              <a:t>Correlation indicates association, not causation.</a:t>
            </a:r>
          </a:p>
        </p:txBody>
      </p:sp>
      <p:sp>
        <p:nvSpPr>
          <p:cNvPr name="AutoShape 25" id="25"/>
          <p:cNvSpPr/>
          <p:nvPr/>
        </p:nvSpPr>
        <p:spPr>
          <a:xfrm>
            <a:off x="857250" y="9563100"/>
            <a:ext cx="16573500" cy="0"/>
          </a:xfrm>
          <a:prstGeom prst="line">
            <a:avLst/>
          </a:prstGeom>
          <a:ln cap="flat" w="9525">
            <a:solidFill>
              <a:srgbClr val="D9E3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6" id="26"/>
          <p:cNvSpPr txBox="true"/>
          <p:nvPr/>
        </p:nvSpPr>
        <p:spPr>
          <a:xfrm rot="0">
            <a:off x="857250" y="9753600"/>
            <a:ext cx="85725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96" b="true">
                <a:solidFill>
                  <a:srgbClr val="60718A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CODE ROOM HUB  •  MACHINE LEARNING INTERNSHIP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573500" y="9705975"/>
            <a:ext cx="85725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95"/>
              </a:lnSpc>
            </a:pPr>
            <a:r>
              <a:rPr lang="en-US" sz="1425">
                <a:solidFill>
                  <a:srgbClr val="10233F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542925"/>
            <a:ext cx="666750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14" b="true">
                <a:solidFill>
                  <a:srgbClr val="1769E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03  /  SIGNAL DESIGN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7250" y="1019175"/>
            <a:ext cx="142875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10233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Feature Engineering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2500" y="2019300"/>
            <a:ext cx="1000125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60718A"/>
                </a:solidFill>
                <a:latin typeface="Source Sans 3"/>
                <a:ea typeface="Source Sans 3"/>
                <a:cs typeface="Source Sans 3"/>
                <a:sym typeface="Source Sans 3"/>
              </a:rPr>
              <a:t>Financial ratios convert raw borrower attributes into risk signals that models can learn consistently.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811000" y="2019300"/>
            <a:ext cx="533400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14" b="true">
                <a:solidFill>
                  <a:srgbClr val="1769E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STRONGEST ENGINEERED CORRELATIONS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52500" y="3333750"/>
            <a:ext cx="2333625" cy="1143000"/>
            <a:chOff x="0" y="0"/>
            <a:chExt cx="3111500" cy="1524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115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111500">
                  <a:moveTo>
                    <a:pt x="82939" y="0"/>
                  </a:moveTo>
                  <a:lnTo>
                    <a:pt x="3028561" y="0"/>
                  </a:lnTo>
                  <a:cubicBezTo>
                    <a:pt x="3050558" y="0"/>
                    <a:pt x="3071654" y="8738"/>
                    <a:pt x="3087208" y="24292"/>
                  </a:cubicBezTo>
                  <a:cubicBezTo>
                    <a:pt x="3102762" y="39846"/>
                    <a:pt x="3111500" y="60942"/>
                    <a:pt x="3111500" y="82939"/>
                  </a:cubicBezTo>
                  <a:lnTo>
                    <a:pt x="3111500" y="1441061"/>
                  </a:lnTo>
                  <a:cubicBezTo>
                    <a:pt x="3111500" y="1463058"/>
                    <a:pt x="3102762" y="1484154"/>
                    <a:pt x="3087208" y="1499708"/>
                  </a:cubicBezTo>
                  <a:cubicBezTo>
                    <a:pt x="3071654" y="1515262"/>
                    <a:pt x="3050558" y="1524000"/>
                    <a:pt x="3028561" y="1524000"/>
                  </a:cubicBezTo>
                  <a:lnTo>
                    <a:pt x="82939" y="1524000"/>
                  </a:lnTo>
                  <a:cubicBezTo>
                    <a:pt x="60942" y="1524000"/>
                    <a:pt x="39846" y="1515262"/>
                    <a:pt x="24292" y="1499708"/>
                  </a:cubicBezTo>
                  <a:cubicBezTo>
                    <a:pt x="8738" y="1484154"/>
                    <a:pt x="0" y="1463058"/>
                    <a:pt x="0" y="1441061"/>
                  </a:cubicBezTo>
                  <a:lnTo>
                    <a:pt x="0" y="82939"/>
                  </a:lnTo>
                  <a:cubicBezTo>
                    <a:pt x="0" y="60942"/>
                    <a:pt x="8738" y="39846"/>
                    <a:pt x="24292" y="24292"/>
                  </a:cubicBezTo>
                  <a:cubicBezTo>
                    <a:pt x="39846" y="8738"/>
                    <a:pt x="60942" y="0"/>
                    <a:pt x="82939" y="0"/>
                  </a:cubicBezTo>
                  <a:close/>
                </a:path>
              </a:pathLst>
            </a:custGeom>
            <a:solidFill>
              <a:srgbClr val="10233F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19050"/>
              <a:ext cx="3111500" cy="1504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MonthlyIncome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619500" y="3333750"/>
            <a:ext cx="2333625" cy="1143000"/>
            <a:chOff x="0" y="0"/>
            <a:chExt cx="3111500" cy="1524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1115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111500">
                  <a:moveTo>
                    <a:pt x="82939" y="0"/>
                  </a:moveTo>
                  <a:lnTo>
                    <a:pt x="3028561" y="0"/>
                  </a:lnTo>
                  <a:cubicBezTo>
                    <a:pt x="3050558" y="0"/>
                    <a:pt x="3071654" y="8738"/>
                    <a:pt x="3087208" y="24292"/>
                  </a:cubicBezTo>
                  <a:cubicBezTo>
                    <a:pt x="3102762" y="39846"/>
                    <a:pt x="3111500" y="60942"/>
                    <a:pt x="3111500" y="82939"/>
                  </a:cubicBezTo>
                  <a:lnTo>
                    <a:pt x="3111500" y="1441061"/>
                  </a:lnTo>
                  <a:cubicBezTo>
                    <a:pt x="3111500" y="1463058"/>
                    <a:pt x="3102762" y="1484154"/>
                    <a:pt x="3087208" y="1499708"/>
                  </a:cubicBezTo>
                  <a:cubicBezTo>
                    <a:pt x="3071654" y="1515262"/>
                    <a:pt x="3050558" y="1524000"/>
                    <a:pt x="3028561" y="1524000"/>
                  </a:cubicBezTo>
                  <a:lnTo>
                    <a:pt x="82939" y="1524000"/>
                  </a:lnTo>
                  <a:cubicBezTo>
                    <a:pt x="60942" y="1524000"/>
                    <a:pt x="39846" y="1515262"/>
                    <a:pt x="24292" y="1499708"/>
                  </a:cubicBezTo>
                  <a:cubicBezTo>
                    <a:pt x="8738" y="1484154"/>
                    <a:pt x="0" y="1463058"/>
                    <a:pt x="0" y="1441061"/>
                  </a:cubicBezTo>
                  <a:lnTo>
                    <a:pt x="0" y="82939"/>
                  </a:lnTo>
                  <a:cubicBezTo>
                    <a:pt x="0" y="60942"/>
                    <a:pt x="8738" y="39846"/>
                    <a:pt x="24292" y="24292"/>
                  </a:cubicBezTo>
                  <a:cubicBezTo>
                    <a:pt x="39846" y="8738"/>
                    <a:pt x="60942" y="0"/>
                    <a:pt x="82939" y="0"/>
                  </a:cubicBezTo>
                  <a:close/>
                </a:path>
              </a:pathLst>
            </a:custGeom>
            <a:solidFill>
              <a:srgbClr val="10233F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19050"/>
              <a:ext cx="3111500" cy="1504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EstimatedMonthlyDebt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286500" y="3333750"/>
            <a:ext cx="2333625" cy="1143000"/>
            <a:chOff x="0" y="0"/>
            <a:chExt cx="3111500" cy="1524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115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111500">
                  <a:moveTo>
                    <a:pt x="82939" y="0"/>
                  </a:moveTo>
                  <a:lnTo>
                    <a:pt x="3028561" y="0"/>
                  </a:lnTo>
                  <a:cubicBezTo>
                    <a:pt x="3050558" y="0"/>
                    <a:pt x="3071654" y="8738"/>
                    <a:pt x="3087208" y="24292"/>
                  </a:cubicBezTo>
                  <a:cubicBezTo>
                    <a:pt x="3102762" y="39846"/>
                    <a:pt x="3111500" y="60942"/>
                    <a:pt x="3111500" y="82939"/>
                  </a:cubicBezTo>
                  <a:lnTo>
                    <a:pt x="3111500" y="1441061"/>
                  </a:lnTo>
                  <a:cubicBezTo>
                    <a:pt x="3111500" y="1463058"/>
                    <a:pt x="3102762" y="1484154"/>
                    <a:pt x="3087208" y="1499708"/>
                  </a:cubicBezTo>
                  <a:cubicBezTo>
                    <a:pt x="3071654" y="1515262"/>
                    <a:pt x="3050558" y="1524000"/>
                    <a:pt x="3028561" y="1524000"/>
                  </a:cubicBezTo>
                  <a:lnTo>
                    <a:pt x="82939" y="1524000"/>
                  </a:lnTo>
                  <a:cubicBezTo>
                    <a:pt x="60942" y="1524000"/>
                    <a:pt x="39846" y="1515262"/>
                    <a:pt x="24292" y="1499708"/>
                  </a:cubicBezTo>
                  <a:cubicBezTo>
                    <a:pt x="8738" y="1484154"/>
                    <a:pt x="0" y="1463058"/>
                    <a:pt x="0" y="1441061"/>
                  </a:cubicBezTo>
                  <a:lnTo>
                    <a:pt x="0" y="82939"/>
                  </a:lnTo>
                  <a:cubicBezTo>
                    <a:pt x="0" y="60942"/>
                    <a:pt x="8738" y="39846"/>
                    <a:pt x="24292" y="24292"/>
                  </a:cubicBezTo>
                  <a:cubicBezTo>
                    <a:pt x="39846" y="8738"/>
                    <a:pt x="60942" y="0"/>
                    <a:pt x="82939" y="0"/>
                  </a:cubicBezTo>
                  <a:close/>
                </a:path>
              </a:pathLst>
            </a:custGeom>
            <a:solidFill>
              <a:srgbClr val="176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19050"/>
              <a:ext cx="3111500" cy="1504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LoanToIncome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953500" y="3333750"/>
            <a:ext cx="2333625" cy="1143000"/>
            <a:chOff x="0" y="0"/>
            <a:chExt cx="3111500" cy="1524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1115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111500">
                  <a:moveTo>
                    <a:pt x="82939" y="0"/>
                  </a:moveTo>
                  <a:lnTo>
                    <a:pt x="3028561" y="0"/>
                  </a:lnTo>
                  <a:cubicBezTo>
                    <a:pt x="3050558" y="0"/>
                    <a:pt x="3071654" y="8738"/>
                    <a:pt x="3087208" y="24292"/>
                  </a:cubicBezTo>
                  <a:cubicBezTo>
                    <a:pt x="3102762" y="39846"/>
                    <a:pt x="3111500" y="60942"/>
                    <a:pt x="3111500" y="82939"/>
                  </a:cubicBezTo>
                  <a:lnTo>
                    <a:pt x="3111500" y="1441061"/>
                  </a:lnTo>
                  <a:cubicBezTo>
                    <a:pt x="3111500" y="1463058"/>
                    <a:pt x="3102762" y="1484154"/>
                    <a:pt x="3087208" y="1499708"/>
                  </a:cubicBezTo>
                  <a:cubicBezTo>
                    <a:pt x="3071654" y="1515262"/>
                    <a:pt x="3050558" y="1524000"/>
                    <a:pt x="3028561" y="1524000"/>
                  </a:cubicBezTo>
                  <a:lnTo>
                    <a:pt x="82939" y="1524000"/>
                  </a:lnTo>
                  <a:cubicBezTo>
                    <a:pt x="60942" y="1524000"/>
                    <a:pt x="39846" y="1515262"/>
                    <a:pt x="24292" y="1499708"/>
                  </a:cubicBezTo>
                  <a:cubicBezTo>
                    <a:pt x="8738" y="1484154"/>
                    <a:pt x="0" y="1463058"/>
                    <a:pt x="0" y="1441061"/>
                  </a:cubicBezTo>
                  <a:lnTo>
                    <a:pt x="0" y="82939"/>
                  </a:lnTo>
                  <a:cubicBezTo>
                    <a:pt x="0" y="60942"/>
                    <a:pt x="8738" y="39846"/>
                    <a:pt x="24292" y="24292"/>
                  </a:cubicBezTo>
                  <a:cubicBezTo>
                    <a:pt x="39846" y="8738"/>
                    <a:pt x="60942" y="0"/>
                    <a:pt x="82939" y="0"/>
                  </a:cubicBezTo>
                  <a:close/>
                </a:path>
              </a:pathLst>
            </a:custGeom>
            <a:solidFill>
              <a:srgbClr val="176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19050"/>
              <a:ext cx="3111500" cy="1504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CreditToAgeRatio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52500" y="5143500"/>
            <a:ext cx="2333625" cy="1143000"/>
            <a:chOff x="0" y="0"/>
            <a:chExt cx="3111500" cy="1524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115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111500">
                  <a:moveTo>
                    <a:pt x="82939" y="0"/>
                  </a:moveTo>
                  <a:lnTo>
                    <a:pt x="3028561" y="0"/>
                  </a:lnTo>
                  <a:cubicBezTo>
                    <a:pt x="3050558" y="0"/>
                    <a:pt x="3071654" y="8738"/>
                    <a:pt x="3087208" y="24292"/>
                  </a:cubicBezTo>
                  <a:cubicBezTo>
                    <a:pt x="3102762" y="39846"/>
                    <a:pt x="3111500" y="60942"/>
                    <a:pt x="3111500" y="82939"/>
                  </a:cubicBezTo>
                  <a:lnTo>
                    <a:pt x="3111500" y="1441061"/>
                  </a:lnTo>
                  <a:cubicBezTo>
                    <a:pt x="3111500" y="1463058"/>
                    <a:pt x="3102762" y="1484154"/>
                    <a:pt x="3087208" y="1499708"/>
                  </a:cubicBezTo>
                  <a:cubicBezTo>
                    <a:pt x="3071654" y="1515262"/>
                    <a:pt x="3050558" y="1524000"/>
                    <a:pt x="3028561" y="1524000"/>
                  </a:cubicBezTo>
                  <a:lnTo>
                    <a:pt x="82939" y="1524000"/>
                  </a:lnTo>
                  <a:cubicBezTo>
                    <a:pt x="60942" y="1524000"/>
                    <a:pt x="39846" y="1515262"/>
                    <a:pt x="24292" y="1499708"/>
                  </a:cubicBezTo>
                  <a:cubicBezTo>
                    <a:pt x="8738" y="1484154"/>
                    <a:pt x="0" y="1463058"/>
                    <a:pt x="0" y="1441061"/>
                  </a:cubicBezTo>
                  <a:lnTo>
                    <a:pt x="0" y="82939"/>
                  </a:lnTo>
                  <a:cubicBezTo>
                    <a:pt x="0" y="60942"/>
                    <a:pt x="8738" y="39846"/>
                    <a:pt x="24292" y="24292"/>
                  </a:cubicBezTo>
                  <a:cubicBezTo>
                    <a:pt x="39846" y="8738"/>
                    <a:pt x="60942" y="0"/>
                    <a:pt x="82939" y="0"/>
                  </a:cubicBezTo>
                  <a:close/>
                </a:path>
              </a:pathLst>
            </a:custGeom>
            <a:solidFill>
              <a:srgbClr val="10233F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19050"/>
              <a:ext cx="3111500" cy="1504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EmploymentStability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619500" y="5143500"/>
            <a:ext cx="2333625" cy="1143000"/>
            <a:chOff x="0" y="0"/>
            <a:chExt cx="3111500" cy="1524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1115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111500">
                  <a:moveTo>
                    <a:pt x="82939" y="0"/>
                  </a:moveTo>
                  <a:lnTo>
                    <a:pt x="3028561" y="0"/>
                  </a:lnTo>
                  <a:cubicBezTo>
                    <a:pt x="3050558" y="0"/>
                    <a:pt x="3071654" y="8738"/>
                    <a:pt x="3087208" y="24292"/>
                  </a:cubicBezTo>
                  <a:cubicBezTo>
                    <a:pt x="3102762" y="39846"/>
                    <a:pt x="3111500" y="60942"/>
                    <a:pt x="3111500" y="82939"/>
                  </a:cubicBezTo>
                  <a:lnTo>
                    <a:pt x="3111500" y="1441061"/>
                  </a:lnTo>
                  <a:cubicBezTo>
                    <a:pt x="3111500" y="1463058"/>
                    <a:pt x="3102762" y="1484154"/>
                    <a:pt x="3087208" y="1499708"/>
                  </a:cubicBezTo>
                  <a:cubicBezTo>
                    <a:pt x="3071654" y="1515262"/>
                    <a:pt x="3050558" y="1524000"/>
                    <a:pt x="3028561" y="1524000"/>
                  </a:cubicBezTo>
                  <a:lnTo>
                    <a:pt x="82939" y="1524000"/>
                  </a:lnTo>
                  <a:cubicBezTo>
                    <a:pt x="60942" y="1524000"/>
                    <a:pt x="39846" y="1515262"/>
                    <a:pt x="24292" y="1499708"/>
                  </a:cubicBezTo>
                  <a:cubicBezTo>
                    <a:pt x="8738" y="1484154"/>
                    <a:pt x="0" y="1463058"/>
                    <a:pt x="0" y="1441061"/>
                  </a:cubicBezTo>
                  <a:lnTo>
                    <a:pt x="0" y="82939"/>
                  </a:lnTo>
                  <a:cubicBezTo>
                    <a:pt x="0" y="60942"/>
                    <a:pt x="8738" y="39846"/>
                    <a:pt x="24292" y="24292"/>
                  </a:cubicBezTo>
                  <a:cubicBezTo>
                    <a:pt x="39846" y="8738"/>
                    <a:pt x="60942" y="0"/>
                    <a:pt x="82939" y="0"/>
                  </a:cubicBezTo>
                  <a:close/>
                </a:path>
              </a:pathLst>
            </a:custGeom>
            <a:solidFill>
              <a:srgbClr val="10233F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19050"/>
              <a:ext cx="3111500" cy="1504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HighRiskCombo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286500" y="5143500"/>
            <a:ext cx="2333625" cy="1143000"/>
            <a:chOff x="0" y="0"/>
            <a:chExt cx="3111500" cy="1524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1115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111500">
                  <a:moveTo>
                    <a:pt x="82939" y="0"/>
                  </a:moveTo>
                  <a:lnTo>
                    <a:pt x="3028561" y="0"/>
                  </a:lnTo>
                  <a:cubicBezTo>
                    <a:pt x="3050558" y="0"/>
                    <a:pt x="3071654" y="8738"/>
                    <a:pt x="3087208" y="24292"/>
                  </a:cubicBezTo>
                  <a:cubicBezTo>
                    <a:pt x="3102762" y="39846"/>
                    <a:pt x="3111500" y="60942"/>
                    <a:pt x="3111500" y="82939"/>
                  </a:cubicBezTo>
                  <a:lnTo>
                    <a:pt x="3111500" y="1441061"/>
                  </a:lnTo>
                  <a:cubicBezTo>
                    <a:pt x="3111500" y="1463058"/>
                    <a:pt x="3102762" y="1484154"/>
                    <a:pt x="3087208" y="1499708"/>
                  </a:cubicBezTo>
                  <a:cubicBezTo>
                    <a:pt x="3071654" y="1515262"/>
                    <a:pt x="3050558" y="1524000"/>
                    <a:pt x="3028561" y="1524000"/>
                  </a:cubicBezTo>
                  <a:lnTo>
                    <a:pt x="82939" y="1524000"/>
                  </a:lnTo>
                  <a:cubicBezTo>
                    <a:pt x="60942" y="1524000"/>
                    <a:pt x="39846" y="1515262"/>
                    <a:pt x="24292" y="1499708"/>
                  </a:cubicBezTo>
                  <a:cubicBezTo>
                    <a:pt x="8738" y="1484154"/>
                    <a:pt x="0" y="1463058"/>
                    <a:pt x="0" y="1441061"/>
                  </a:cubicBezTo>
                  <a:lnTo>
                    <a:pt x="0" y="82939"/>
                  </a:lnTo>
                  <a:cubicBezTo>
                    <a:pt x="0" y="60942"/>
                    <a:pt x="8738" y="39846"/>
                    <a:pt x="24292" y="24292"/>
                  </a:cubicBezTo>
                  <a:cubicBezTo>
                    <a:pt x="39846" y="8738"/>
                    <a:pt x="60942" y="0"/>
                    <a:pt x="82939" y="0"/>
                  </a:cubicBezTo>
                  <a:close/>
                </a:path>
              </a:pathLst>
            </a:custGeom>
            <a:solidFill>
              <a:srgbClr val="176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19050"/>
              <a:ext cx="3111500" cy="1504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InterestDebtStress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953500" y="5143500"/>
            <a:ext cx="2333625" cy="1143000"/>
            <a:chOff x="0" y="0"/>
            <a:chExt cx="3111500" cy="1524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1115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111500">
                  <a:moveTo>
                    <a:pt x="82939" y="0"/>
                  </a:moveTo>
                  <a:lnTo>
                    <a:pt x="3028561" y="0"/>
                  </a:lnTo>
                  <a:cubicBezTo>
                    <a:pt x="3050558" y="0"/>
                    <a:pt x="3071654" y="8738"/>
                    <a:pt x="3087208" y="24292"/>
                  </a:cubicBezTo>
                  <a:cubicBezTo>
                    <a:pt x="3102762" y="39846"/>
                    <a:pt x="3111500" y="60942"/>
                    <a:pt x="3111500" y="82939"/>
                  </a:cubicBezTo>
                  <a:lnTo>
                    <a:pt x="3111500" y="1441061"/>
                  </a:lnTo>
                  <a:cubicBezTo>
                    <a:pt x="3111500" y="1463058"/>
                    <a:pt x="3102762" y="1484154"/>
                    <a:pt x="3087208" y="1499708"/>
                  </a:cubicBezTo>
                  <a:cubicBezTo>
                    <a:pt x="3071654" y="1515262"/>
                    <a:pt x="3050558" y="1524000"/>
                    <a:pt x="3028561" y="1524000"/>
                  </a:cubicBezTo>
                  <a:lnTo>
                    <a:pt x="82939" y="1524000"/>
                  </a:lnTo>
                  <a:cubicBezTo>
                    <a:pt x="60942" y="1524000"/>
                    <a:pt x="39846" y="1515262"/>
                    <a:pt x="24292" y="1499708"/>
                  </a:cubicBezTo>
                  <a:cubicBezTo>
                    <a:pt x="8738" y="1484154"/>
                    <a:pt x="0" y="1463058"/>
                    <a:pt x="0" y="1441061"/>
                  </a:cubicBezTo>
                  <a:lnTo>
                    <a:pt x="0" y="82939"/>
                  </a:lnTo>
                  <a:cubicBezTo>
                    <a:pt x="0" y="60942"/>
                    <a:pt x="8738" y="39846"/>
                    <a:pt x="24292" y="24292"/>
                  </a:cubicBezTo>
                  <a:cubicBezTo>
                    <a:pt x="39846" y="8738"/>
                    <a:pt x="60942" y="0"/>
                    <a:pt x="82939" y="0"/>
                  </a:cubicBezTo>
                  <a:close/>
                </a:path>
              </a:pathLst>
            </a:custGeom>
            <a:solidFill>
              <a:srgbClr val="10233F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19050"/>
              <a:ext cx="3111500" cy="1504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LoanPerCreditLine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525250" y="2809875"/>
            <a:ext cx="5619750" cy="5619750"/>
            <a:chOff x="0" y="0"/>
            <a:chExt cx="7493000" cy="7493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493000" cy="7493000"/>
            </a:xfrm>
            <a:custGeom>
              <a:avLst/>
              <a:gdLst/>
              <a:ahLst/>
              <a:cxnLst/>
              <a:rect r="r" b="b" t="t" l="l"/>
              <a:pathLst>
                <a:path h="7493000" w="7493000">
                  <a:moveTo>
                    <a:pt x="0" y="0"/>
                  </a:moveTo>
                  <a:lnTo>
                    <a:pt x="7493000" y="0"/>
                  </a:lnTo>
                  <a:lnTo>
                    <a:pt x="7493000" y="7493000"/>
                  </a:lnTo>
                  <a:lnTo>
                    <a:pt x="0" y="7493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7493000" cy="753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2192000" y="3095625"/>
            <a:ext cx="409575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850" b="true">
                <a:solidFill>
                  <a:srgbClr val="1769E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+0.1790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192000" y="3600450"/>
            <a:ext cx="409575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350">
                <a:solidFill>
                  <a:srgbClr val="60718A"/>
                </a:solidFill>
                <a:latin typeface="Source Sans 3"/>
                <a:ea typeface="Source Sans 3"/>
                <a:cs typeface="Source Sans 3"/>
                <a:sym typeface="Source Sans 3"/>
              </a:rPr>
              <a:t>LoanToIncome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192000" y="4381500"/>
            <a:ext cx="409575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850" b="true">
                <a:solidFill>
                  <a:srgbClr val="1769E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+0.1121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192000" y="4886325"/>
            <a:ext cx="409575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350">
                <a:solidFill>
                  <a:srgbClr val="60718A"/>
                </a:solidFill>
                <a:latin typeface="Source Sans 3"/>
                <a:ea typeface="Source Sans 3"/>
                <a:cs typeface="Source Sans 3"/>
                <a:sym typeface="Source Sans 3"/>
              </a:rPr>
              <a:t>CreditToAgeRatio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192000" y="5667375"/>
            <a:ext cx="409575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850" b="true">
                <a:solidFill>
                  <a:srgbClr val="1769E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+0.1053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192000" y="6172200"/>
            <a:ext cx="409575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350">
                <a:solidFill>
                  <a:srgbClr val="60718A"/>
                </a:solidFill>
                <a:latin typeface="Source Sans 3"/>
                <a:ea typeface="Source Sans 3"/>
                <a:cs typeface="Source Sans 3"/>
                <a:sym typeface="Source Sans 3"/>
              </a:rPr>
              <a:t>InterestDebtStress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192000" y="6953250"/>
            <a:ext cx="409575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850" b="true">
                <a:solidFill>
                  <a:srgbClr val="DF5263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−0.0991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192000" y="7458075"/>
            <a:ext cx="409575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350">
                <a:solidFill>
                  <a:srgbClr val="60718A"/>
                </a:solidFill>
                <a:latin typeface="Source Sans 3"/>
                <a:ea typeface="Source Sans 3"/>
                <a:cs typeface="Source Sans 3"/>
                <a:sym typeface="Source Sans 3"/>
              </a:rPr>
              <a:t>MonthlyIncome</a:t>
            </a:r>
          </a:p>
        </p:txBody>
      </p:sp>
      <p:sp>
        <p:nvSpPr>
          <p:cNvPr name="AutoShape 41" id="41"/>
          <p:cNvSpPr/>
          <p:nvPr/>
        </p:nvSpPr>
        <p:spPr>
          <a:xfrm>
            <a:off x="857250" y="9563100"/>
            <a:ext cx="16573500" cy="0"/>
          </a:xfrm>
          <a:prstGeom prst="line">
            <a:avLst/>
          </a:prstGeom>
          <a:ln cap="flat" w="9525">
            <a:solidFill>
              <a:srgbClr val="D9E3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2" id="42"/>
          <p:cNvSpPr txBox="true"/>
          <p:nvPr/>
        </p:nvSpPr>
        <p:spPr>
          <a:xfrm rot="0">
            <a:off x="857250" y="9753600"/>
            <a:ext cx="85725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96" b="true">
                <a:solidFill>
                  <a:srgbClr val="60718A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CODE ROOM HUB  •  MACHINE LEARNING INTERNSHIP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6573500" y="9705975"/>
            <a:ext cx="85725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95"/>
              </a:lnSpc>
            </a:pPr>
            <a:r>
              <a:rPr lang="en-US" sz="1425">
                <a:solidFill>
                  <a:srgbClr val="10233F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542925"/>
            <a:ext cx="666750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14" b="true">
                <a:solidFill>
                  <a:srgbClr val="1769E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04  /  PIPELINE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7250" y="1019175"/>
            <a:ext cx="142875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10233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Preprocessing Pipeline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66750" y="3333750"/>
            <a:ext cx="2047875" cy="1190625"/>
            <a:chOff x="0" y="0"/>
            <a:chExt cx="2730500" cy="15875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30500" cy="1587500"/>
            </a:xfrm>
            <a:custGeom>
              <a:avLst/>
              <a:gdLst/>
              <a:ahLst/>
              <a:cxnLst/>
              <a:rect r="r" b="b" t="t" l="l"/>
              <a:pathLst>
                <a:path h="1587500" w="2730500">
                  <a:moveTo>
                    <a:pt x="94512" y="0"/>
                  </a:moveTo>
                  <a:lnTo>
                    <a:pt x="2635988" y="0"/>
                  </a:lnTo>
                  <a:cubicBezTo>
                    <a:pt x="2688186" y="0"/>
                    <a:pt x="2730500" y="42314"/>
                    <a:pt x="2730500" y="94512"/>
                  </a:cubicBezTo>
                  <a:lnTo>
                    <a:pt x="2730500" y="1492988"/>
                  </a:lnTo>
                  <a:cubicBezTo>
                    <a:pt x="2730500" y="1545186"/>
                    <a:pt x="2688186" y="1587500"/>
                    <a:pt x="2635988" y="1587500"/>
                  </a:cubicBezTo>
                  <a:lnTo>
                    <a:pt x="94512" y="1587500"/>
                  </a:lnTo>
                  <a:cubicBezTo>
                    <a:pt x="42314" y="1587500"/>
                    <a:pt x="0" y="1545186"/>
                    <a:pt x="0" y="1492988"/>
                  </a:cubicBezTo>
                  <a:lnTo>
                    <a:pt x="0" y="94512"/>
                  </a:lnTo>
                  <a:cubicBezTo>
                    <a:pt x="0" y="42314"/>
                    <a:pt x="42314" y="0"/>
                    <a:pt x="94512" y="0"/>
                  </a:cubicBezTo>
                  <a:close/>
                </a:path>
              </a:pathLst>
            </a:custGeom>
            <a:solidFill>
              <a:srgbClr val="176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19050"/>
              <a:ext cx="2730500" cy="1568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Raw Data</a:t>
              </a:r>
            </a:p>
          </p:txBody>
        </p:sp>
      </p:grpSp>
      <p:sp>
        <p:nvSpPr>
          <p:cNvPr name="AutoShape 7" id="7"/>
          <p:cNvSpPr/>
          <p:nvPr/>
        </p:nvSpPr>
        <p:spPr>
          <a:xfrm>
            <a:off x="2714625" y="3924300"/>
            <a:ext cx="352425" cy="0"/>
          </a:xfrm>
          <a:prstGeom prst="line">
            <a:avLst/>
          </a:prstGeom>
          <a:ln cap="rnd" w="28575">
            <a:solidFill>
              <a:srgbClr val="45C2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3162300" y="3333750"/>
            <a:ext cx="2047875" cy="1190625"/>
            <a:chOff x="0" y="0"/>
            <a:chExt cx="2730500" cy="1587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0500" cy="1587500"/>
            </a:xfrm>
            <a:custGeom>
              <a:avLst/>
              <a:gdLst/>
              <a:ahLst/>
              <a:cxnLst/>
              <a:rect r="r" b="b" t="t" l="l"/>
              <a:pathLst>
                <a:path h="1587500" w="2730500">
                  <a:moveTo>
                    <a:pt x="94512" y="0"/>
                  </a:moveTo>
                  <a:lnTo>
                    <a:pt x="2635988" y="0"/>
                  </a:lnTo>
                  <a:cubicBezTo>
                    <a:pt x="2688186" y="0"/>
                    <a:pt x="2730500" y="42314"/>
                    <a:pt x="2730500" y="94512"/>
                  </a:cubicBezTo>
                  <a:lnTo>
                    <a:pt x="2730500" y="1492988"/>
                  </a:lnTo>
                  <a:cubicBezTo>
                    <a:pt x="2730500" y="1545186"/>
                    <a:pt x="2688186" y="1587500"/>
                    <a:pt x="2635988" y="1587500"/>
                  </a:cubicBezTo>
                  <a:lnTo>
                    <a:pt x="94512" y="1587500"/>
                  </a:lnTo>
                  <a:cubicBezTo>
                    <a:pt x="42314" y="1587500"/>
                    <a:pt x="0" y="1545186"/>
                    <a:pt x="0" y="1492988"/>
                  </a:cubicBezTo>
                  <a:lnTo>
                    <a:pt x="0" y="94512"/>
                  </a:lnTo>
                  <a:cubicBezTo>
                    <a:pt x="0" y="42314"/>
                    <a:pt x="42314" y="0"/>
                    <a:pt x="94512" y="0"/>
                  </a:cubicBezTo>
                  <a:close/>
                </a:path>
              </a:pathLst>
            </a:custGeom>
            <a:solidFill>
              <a:srgbClr val="10233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19050"/>
              <a:ext cx="2730500" cy="1568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Train / Test Split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5210175" y="3924300"/>
            <a:ext cx="352425" cy="0"/>
          </a:xfrm>
          <a:prstGeom prst="line">
            <a:avLst/>
          </a:prstGeom>
          <a:ln cap="rnd" w="28575">
            <a:solidFill>
              <a:srgbClr val="45C2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5657850" y="3333750"/>
            <a:ext cx="2047875" cy="1190625"/>
            <a:chOff x="0" y="0"/>
            <a:chExt cx="2730500" cy="1587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30500" cy="1587500"/>
            </a:xfrm>
            <a:custGeom>
              <a:avLst/>
              <a:gdLst/>
              <a:ahLst/>
              <a:cxnLst/>
              <a:rect r="r" b="b" t="t" l="l"/>
              <a:pathLst>
                <a:path h="1587500" w="2730500">
                  <a:moveTo>
                    <a:pt x="94512" y="0"/>
                  </a:moveTo>
                  <a:lnTo>
                    <a:pt x="2635988" y="0"/>
                  </a:lnTo>
                  <a:cubicBezTo>
                    <a:pt x="2688186" y="0"/>
                    <a:pt x="2730500" y="42314"/>
                    <a:pt x="2730500" y="94512"/>
                  </a:cubicBezTo>
                  <a:lnTo>
                    <a:pt x="2730500" y="1492988"/>
                  </a:lnTo>
                  <a:cubicBezTo>
                    <a:pt x="2730500" y="1545186"/>
                    <a:pt x="2688186" y="1587500"/>
                    <a:pt x="2635988" y="1587500"/>
                  </a:cubicBezTo>
                  <a:lnTo>
                    <a:pt x="94512" y="1587500"/>
                  </a:lnTo>
                  <a:cubicBezTo>
                    <a:pt x="42314" y="1587500"/>
                    <a:pt x="0" y="1545186"/>
                    <a:pt x="0" y="1492988"/>
                  </a:cubicBezTo>
                  <a:lnTo>
                    <a:pt x="0" y="94512"/>
                  </a:lnTo>
                  <a:cubicBezTo>
                    <a:pt x="0" y="42314"/>
                    <a:pt x="42314" y="0"/>
                    <a:pt x="94512" y="0"/>
                  </a:cubicBezTo>
                  <a:close/>
                </a:path>
              </a:pathLst>
            </a:custGeom>
            <a:solidFill>
              <a:srgbClr val="176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19050"/>
              <a:ext cx="2730500" cy="1568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Feature Engineering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7705725" y="3924300"/>
            <a:ext cx="352425" cy="0"/>
          </a:xfrm>
          <a:prstGeom prst="line">
            <a:avLst/>
          </a:prstGeom>
          <a:ln cap="rnd" w="28575">
            <a:solidFill>
              <a:srgbClr val="45C2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8153400" y="3333750"/>
            <a:ext cx="2047875" cy="1190625"/>
            <a:chOff x="0" y="0"/>
            <a:chExt cx="2730500" cy="1587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730500" cy="1587500"/>
            </a:xfrm>
            <a:custGeom>
              <a:avLst/>
              <a:gdLst/>
              <a:ahLst/>
              <a:cxnLst/>
              <a:rect r="r" b="b" t="t" l="l"/>
              <a:pathLst>
                <a:path h="1587500" w="2730500">
                  <a:moveTo>
                    <a:pt x="94512" y="0"/>
                  </a:moveTo>
                  <a:lnTo>
                    <a:pt x="2635988" y="0"/>
                  </a:lnTo>
                  <a:cubicBezTo>
                    <a:pt x="2688186" y="0"/>
                    <a:pt x="2730500" y="42314"/>
                    <a:pt x="2730500" y="94512"/>
                  </a:cubicBezTo>
                  <a:lnTo>
                    <a:pt x="2730500" y="1492988"/>
                  </a:lnTo>
                  <a:cubicBezTo>
                    <a:pt x="2730500" y="1545186"/>
                    <a:pt x="2688186" y="1587500"/>
                    <a:pt x="2635988" y="1587500"/>
                  </a:cubicBezTo>
                  <a:lnTo>
                    <a:pt x="94512" y="1587500"/>
                  </a:lnTo>
                  <a:cubicBezTo>
                    <a:pt x="42314" y="1587500"/>
                    <a:pt x="0" y="1545186"/>
                    <a:pt x="0" y="1492988"/>
                  </a:cubicBezTo>
                  <a:lnTo>
                    <a:pt x="0" y="94512"/>
                  </a:lnTo>
                  <a:cubicBezTo>
                    <a:pt x="0" y="42314"/>
                    <a:pt x="42314" y="0"/>
                    <a:pt x="94512" y="0"/>
                  </a:cubicBezTo>
                  <a:close/>
                </a:path>
              </a:pathLst>
            </a:custGeom>
            <a:solidFill>
              <a:srgbClr val="10233F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19050"/>
              <a:ext cx="2730500" cy="1568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Numerical Processing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0201275" y="3924300"/>
            <a:ext cx="352425" cy="0"/>
          </a:xfrm>
          <a:prstGeom prst="line">
            <a:avLst/>
          </a:prstGeom>
          <a:ln cap="rnd" w="28575">
            <a:solidFill>
              <a:srgbClr val="45C2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0648950" y="3333750"/>
            <a:ext cx="2047875" cy="1190625"/>
            <a:chOff x="0" y="0"/>
            <a:chExt cx="2730500" cy="15875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730500" cy="1587500"/>
            </a:xfrm>
            <a:custGeom>
              <a:avLst/>
              <a:gdLst/>
              <a:ahLst/>
              <a:cxnLst/>
              <a:rect r="r" b="b" t="t" l="l"/>
              <a:pathLst>
                <a:path h="1587500" w="2730500">
                  <a:moveTo>
                    <a:pt x="94512" y="0"/>
                  </a:moveTo>
                  <a:lnTo>
                    <a:pt x="2635988" y="0"/>
                  </a:lnTo>
                  <a:cubicBezTo>
                    <a:pt x="2688186" y="0"/>
                    <a:pt x="2730500" y="42314"/>
                    <a:pt x="2730500" y="94512"/>
                  </a:cubicBezTo>
                  <a:lnTo>
                    <a:pt x="2730500" y="1492988"/>
                  </a:lnTo>
                  <a:cubicBezTo>
                    <a:pt x="2730500" y="1545186"/>
                    <a:pt x="2688186" y="1587500"/>
                    <a:pt x="2635988" y="1587500"/>
                  </a:cubicBezTo>
                  <a:lnTo>
                    <a:pt x="94512" y="1587500"/>
                  </a:lnTo>
                  <a:cubicBezTo>
                    <a:pt x="42314" y="1587500"/>
                    <a:pt x="0" y="1545186"/>
                    <a:pt x="0" y="1492988"/>
                  </a:cubicBezTo>
                  <a:lnTo>
                    <a:pt x="0" y="94512"/>
                  </a:lnTo>
                  <a:cubicBezTo>
                    <a:pt x="0" y="42314"/>
                    <a:pt x="42314" y="0"/>
                    <a:pt x="94512" y="0"/>
                  </a:cubicBezTo>
                  <a:close/>
                </a:path>
              </a:pathLst>
            </a:custGeom>
            <a:solidFill>
              <a:srgbClr val="176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19050"/>
              <a:ext cx="2730500" cy="1568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Categorical Encoding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>
            <a:off x="12696825" y="3924300"/>
            <a:ext cx="352425" cy="0"/>
          </a:xfrm>
          <a:prstGeom prst="line">
            <a:avLst/>
          </a:prstGeom>
          <a:ln cap="rnd" w="28575">
            <a:solidFill>
              <a:srgbClr val="45C2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13144500" y="3333750"/>
            <a:ext cx="2047875" cy="1190625"/>
            <a:chOff x="0" y="0"/>
            <a:chExt cx="2730500" cy="15875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730500" cy="1587500"/>
            </a:xfrm>
            <a:custGeom>
              <a:avLst/>
              <a:gdLst/>
              <a:ahLst/>
              <a:cxnLst/>
              <a:rect r="r" b="b" t="t" l="l"/>
              <a:pathLst>
                <a:path h="1587500" w="2730500">
                  <a:moveTo>
                    <a:pt x="94512" y="0"/>
                  </a:moveTo>
                  <a:lnTo>
                    <a:pt x="2635988" y="0"/>
                  </a:lnTo>
                  <a:cubicBezTo>
                    <a:pt x="2688186" y="0"/>
                    <a:pt x="2730500" y="42314"/>
                    <a:pt x="2730500" y="94512"/>
                  </a:cubicBezTo>
                  <a:lnTo>
                    <a:pt x="2730500" y="1492988"/>
                  </a:lnTo>
                  <a:cubicBezTo>
                    <a:pt x="2730500" y="1545186"/>
                    <a:pt x="2688186" y="1587500"/>
                    <a:pt x="2635988" y="1587500"/>
                  </a:cubicBezTo>
                  <a:lnTo>
                    <a:pt x="94512" y="1587500"/>
                  </a:lnTo>
                  <a:cubicBezTo>
                    <a:pt x="42314" y="1587500"/>
                    <a:pt x="0" y="1545186"/>
                    <a:pt x="0" y="1492988"/>
                  </a:cubicBezTo>
                  <a:lnTo>
                    <a:pt x="0" y="94512"/>
                  </a:lnTo>
                  <a:cubicBezTo>
                    <a:pt x="0" y="42314"/>
                    <a:pt x="42314" y="0"/>
                    <a:pt x="94512" y="0"/>
                  </a:cubicBezTo>
                  <a:close/>
                </a:path>
              </a:pathLst>
            </a:custGeom>
            <a:solidFill>
              <a:srgbClr val="10233F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19050"/>
              <a:ext cx="2730500" cy="1568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Processed Feature Matrix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>
            <a:off x="15192375" y="3924300"/>
            <a:ext cx="352425" cy="0"/>
          </a:xfrm>
          <a:prstGeom prst="line">
            <a:avLst/>
          </a:prstGeom>
          <a:ln cap="rnd" w="28575">
            <a:solidFill>
              <a:srgbClr val="45C2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15640050" y="3333750"/>
            <a:ext cx="2047875" cy="1190625"/>
            <a:chOff x="0" y="0"/>
            <a:chExt cx="2730500" cy="15875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730500" cy="1587500"/>
            </a:xfrm>
            <a:custGeom>
              <a:avLst/>
              <a:gdLst/>
              <a:ahLst/>
              <a:cxnLst/>
              <a:rect r="r" b="b" t="t" l="l"/>
              <a:pathLst>
                <a:path h="1587500" w="2730500">
                  <a:moveTo>
                    <a:pt x="94512" y="0"/>
                  </a:moveTo>
                  <a:lnTo>
                    <a:pt x="2635988" y="0"/>
                  </a:lnTo>
                  <a:cubicBezTo>
                    <a:pt x="2688186" y="0"/>
                    <a:pt x="2730500" y="42314"/>
                    <a:pt x="2730500" y="94512"/>
                  </a:cubicBezTo>
                  <a:lnTo>
                    <a:pt x="2730500" y="1492988"/>
                  </a:lnTo>
                  <a:cubicBezTo>
                    <a:pt x="2730500" y="1545186"/>
                    <a:pt x="2688186" y="1587500"/>
                    <a:pt x="2635988" y="1587500"/>
                  </a:cubicBezTo>
                  <a:lnTo>
                    <a:pt x="94512" y="1587500"/>
                  </a:lnTo>
                  <a:cubicBezTo>
                    <a:pt x="42314" y="1587500"/>
                    <a:pt x="0" y="1545186"/>
                    <a:pt x="0" y="1492988"/>
                  </a:cubicBezTo>
                  <a:lnTo>
                    <a:pt x="0" y="94512"/>
                  </a:lnTo>
                  <a:cubicBezTo>
                    <a:pt x="0" y="42314"/>
                    <a:pt x="42314" y="0"/>
                    <a:pt x="94512" y="0"/>
                  </a:cubicBezTo>
                  <a:close/>
                </a:path>
              </a:pathLst>
            </a:custGeom>
            <a:solidFill>
              <a:srgbClr val="19A974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19050"/>
              <a:ext cx="2730500" cy="1568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Model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952500" y="5829300"/>
            <a:ext cx="352425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 b="true">
                <a:solidFill>
                  <a:srgbClr val="1769E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204,277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52500" y="6562725"/>
            <a:ext cx="352425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14" b="true">
                <a:solidFill>
                  <a:srgbClr val="1769E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TRAINING SAMPLES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095875" y="5829300"/>
            <a:ext cx="352425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 b="true">
                <a:solidFill>
                  <a:srgbClr val="1769E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51,070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095875" y="6562725"/>
            <a:ext cx="352425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14" b="true">
                <a:solidFill>
                  <a:srgbClr val="1769E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TESTING SAMPLES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239250" y="5829300"/>
            <a:ext cx="352425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 b="true">
                <a:solidFill>
                  <a:srgbClr val="1769E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24 → 39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239250" y="6562725"/>
            <a:ext cx="352425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14" b="true">
                <a:solidFill>
                  <a:srgbClr val="1769E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FEATURES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382625" y="5829300"/>
            <a:ext cx="352425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 b="true">
                <a:solidFill>
                  <a:srgbClr val="1769E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 / 0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382625" y="6562725"/>
            <a:ext cx="352425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14" b="true">
                <a:solidFill>
                  <a:srgbClr val="1769E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MISSING / INFINITE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52500" y="7820025"/>
            <a:ext cx="714375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10233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ColumnTransformer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52500" y="8315325"/>
            <a:ext cx="857250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350">
                <a:solidFill>
                  <a:srgbClr val="60718A"/>
                </a:solidFill>
                <a:latin typeface="Source Sans 3"/>
                <a:ea typeface="Source Sans 3"/>
                <a:cs typeface="Source Sans 3"/>
                <a:sym typeface="Source Sans 3"/>
              </a:rPr>
              <a:t>Reusable preprocessing contract for training and inference</a:t>
            </a:r>
          </a:p>
        </p:txBody>
      </p:sp>
      <p:sp>
        <p:nvSpPr>
          <p:cNvPr name="AutoShape 41" id="41"/>
          <p:cNvSpPr/>
          <p:nvPr/>
        </p:nvSpPr>
        <p:spPr>
          <a:xfrm>
            <a:off x="857250" y="9563100"/>
            <a:ext cx="16573500" cy="0"/>
          </a:xfrm>
          <a:prstGeom prst="line">
            <a:avLst/>
          </a:prstGeom>
          <a:ln cap="flat" w="9525">
            <a:solidFill>
              <a:srgbClr val="D9E3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2" id="42"/>
          <p:cNvSpPr txBox="true"/>
          <p:nvPr/>
        </p:nvSpPr>
        <p:spPr>
          <a:xfrm rot="0">
            <a:off x="857250" y="9753600"/>
            <a:ext cx="85725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96" b="true">
                <a:solidFill>
                  <a:srgbClr val="60718A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CODE ROOM HUB  •  MACHINE LEARNING INTERNSHIP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6573500" y="9705975"/>
            <a:ext cx="85725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95"/>
              </a:lnSpc>
            </a:pPr>
            <a:r>
              <a:rPr lang="en-US" sz="1425">
                <a:solidFill>
                  <a:srgbClr val="10233F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542925"/>
            <a:ext cx="666750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14" b="true">
                <a:solidFill>
                  <a:srgbClr val="1769E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05  /  MODELING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7250" y="1019175"/>
            <a:ext cx="142875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10233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 Development &amp; Comparison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2500" y="2857500"/>
            <a:ext cx="7545400" cy="742950"/>
            <a:chOff x="0" y="0"/>
            <a:chExt cx="10060534" cy="990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060534" cy="990600"/>
            </a:xfrm>
            <a:custGeom>
              <a:avLst/>
              <a:gdLst/>
              <a:ahLst/>
              <a:cxnLst/>
              <a:rect r="r" b="b" t="t" l="l"/>
              <a:pathLst>
                <a:path h="990600" w="10060534">
                  <a:moveTo>
                    <a:pt x="0" y="0"/>
                  </a:moveTo>
                  <a:lnTo>
                    <a:pt x="10060534" y="0"/>
                  </a:lnTo>
                  <a:lnTo>
                    <a:pt x="10060534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176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0060534" cy="1028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47750" y="2476500"/>
            <a:ext cx="476250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350">
                <a:solidFill>
                  <a:srgbClr val="60718A"/>
                </a:solidFill>
                <a:latin typeface="Source Sans 3"/>
                <a:ea typeface="Source Sans 3"/>
                <a:cs typeface="Source Sans 3"/>
                <a:sym typeface="Source Sans 3"/>
              </a:rPr>
              <a:t>Logistic Regression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763000" y="3009900"/>
            <a:ext cx="2095500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29"/>
              </a:lnSpc>
            </a:pPr>
            <a:r>
              <a:rPr lang="en-US" sz="1950" b="true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0.7617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52500" y="4286250"/>
            <a:ext cx="7500823" cy="742950"/>
            <a:chOff x="0" y="0"/>
            <a:chExt cx="10001098" cy="990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001097" cy="990600"/>
            </a:xfrm>
            <a:custGeom>
              <a:avLst/>
              <a:gdLst/>
              <a:ahLst/>
              <a:cxnLst/>
              <a:rect r="r" b="b" t="t" l="l"/>
              <a:pathLst>
                <a:path h="990600" w="10001097">
                  <a:moveTo>
                    <a:pt x="0" y="0"/>
                  </a:moveTo>
                  <a:lnTo>
                    <a:pt x="10001097" y="0"/>
                  </a:lnTo>
                  <a:lnTo>
                    <a:pt x="10001097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10233F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0001098" cy="1028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47750" y="3905250"/>
            <a:ext cx="476250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350">
                <a:solidFill>
                  <a:srgbClr val="60718A"/>
                </a:solidFill>
                <a:latin typeface="Source Sans 3"/>
                <a:ea typeface="Source Sans 3"/>
                <a:cs typeface="Source Sans 3"/>
                <a:sym typeface="Source Sans 3"/>
              </a:rPr>
              <a:t>HistGradientBoosting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763000" y="4438650"/>
            <a:ext cx="2095500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29"/>
              </a:lnSpc>
            </a:pPr>
            <a:r>
              <a:rPr lang="en-US" sz="1950" b="true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0.7572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52500" y="5715000"/>
            <a:ext cx="7346290" cy="742950"/>
            <a:chOff x="0" y="0"/>
            <a:chExt cx="9795053" cy="990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795053" cy="990600"/>
            </a:xfrm>
            <a:custGeom>
              <a:avLst/>
              <a:gdLst/>
              <a:ahLst/>
              <a:cxnLst/>
              <a:rect r="r" b="b" t="t" l="l"/>
              <a:pathLst>
                <a:path h="990600" w="9795053">
                  <a:moveTo>
                    <a:pt x="0" y="0"/>
                  </a:moveTo>
                  <a:lnTo>
                    <a:pt x="9795053" y="0"/>
                  </a:lnTo>
                  <a:lnTo>
                    <a:pt x="9795053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10233F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795053" cy="1028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47750" y="5334000"/>
            <a:ext cx="476250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350">
                <a:solidFill>
                  <a:srgbClr val="60718A"/>
                </a:solidFill>
                <a:latin typeface="Source Sans 3"/>
                <a:ea typeface="Source Sans 3"/>
                <a:cs typeface="Source Sans 3"/>
                <a:sym typeface="Source Sans 3"/>
              </a:rPr>
              <a:t>Random Forest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763000" y="5867400"/>
            <a:ext cx="2095500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29"/>
              </a:lnSpc>
            </a:pPr>
            <a:r>
              <a:rPr lang="en-US" sz="1950" b="true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0.7416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715750" y="2047875"/>
            <a:ext cx="5334000" cy="6477000"/>
            <a:chOff x="0" y="0"/>
            <a:chExt cx="7112000" cy="8636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112000" cy="8636000"/>
            </a:xfrm>
            <a:custGeom>
              <a:avLst/>
              <a:gdLst/>
              <a:ahLst/>
              <a:cxnLst/>
              <a:rect r="r" b="b" t="t" l="l"/>
              <a:pathLst>
                <a:path h="8636000" w="7112000">
                  <a:moveTo>
                    <a:pt x="0" y="0"/>
                  </a:moveTo>
                  <a:lnTo>
                    <a:pt x="7112000" y="0"/>
                  </a:lnTo>
                  <a:lnTo>
                    <a:pt x="7112000" y="8636000"/>
                  </a:lnTo>
                  <a:lnTo>
                    <a:pt x="0" y="8636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7112000" cy="867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2382500" y="2314575"/>
            <a:ext cx="4000500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9"/>
              </a:lnSpc>
            </a:pPr>
            <a:r>
              <a:rPr lang="en-US" sz="3150" b="true">
                <a:solidFill>
                  <a:srgbClr val="1769E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88.69%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382500" y="2886075"/>
            <a:ext cx="400050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350">
                <a:solidFill>
                  <a:srgbClr val="60718A"/>
                </a:solidFill>
                <a:latin typeface="Source Sans 3"/>
                <a:ea typeface="Source Sans 3"/>
                <a:cs typeface="Source Sans 3"/>
                <a:sym typeface="Source Sans 3"/>
              </a:rPr>
              <a:t>Accuracy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382500" y="3505200"/>
            <a:ext cx="4000500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9"/>
              </a:lnSpc>
            </a:pPr>
            <a:r>
              <a:rPr lang="en-US" sz="3150" b="true">
                <a:solidFill>
                  <a:srgbClr val="1769E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61.68%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382500" y="4076700"/>
            <a:ext cx="400050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350">
                <a:solidFill>
                  <a:srgbClr val="60718A"/>
                </a:solidFill>
                <a:latin typeface="Source Sans 3"/>
                <a:ea typeface="Source Sans 3"/>
                <a:cs typeface="Source Sans 3"/>
                <a:sym typeface="Source Sans 3"/>
              </a:rPr>
              <a:t>Precision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382500" y="4695825"/>
            <a:ext cx="4000500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9"/>
              </a:lnSpc>
            </a:pPr>
            <a:r>
              <a:rPr lang="en-US" sz="3150" b="true">
                <a:solidFill>
                  <a:srgbClr val="DF52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6.95%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382500" y="5267325"/>
            <a:ext cx="400050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350">
                <a:solidFill>
                  <a:srgbClr val="60718A"/>
                </a:solidFill>
                <a:latin typeface="Source Sans 3"/>
                <a:ea typeface="Source Sans 3"/>
                <a:cs typeface="Source Sans 3"/>
                <a:sym typeface="Source Sans 3"/>
              </a:rPr>
              <a:t>Recall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382500" y="5886450"/>
            <a:ext cx="4000500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9"/>
              </a:lnSpc>
            </a:pPr>
            <a:r>
              <a:rPr lang="en-US" sz="3150" b="true">
                <a:solidFill>
                  <a:srgbClr val="1769E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12.49%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382500" y="6457950"/>
            <a:ext cx="400050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350">
                <a:solidFill>
                  <a:srgbClr val="60718A"/>
                </a:solidFill>
                <a:latin typeface="Source Sans 3"/>
                <a:ea typeface="Source Sans 3"/>
                <a:cs typeface="Source Sans 3"/>
                <a:sym typeface="Source Sans 3"/>
              </a:rPr>
              <a:t>F1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382500" y="7077075"/>
            <a:ext cx="4000500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9"/>
              </a:lnSpc>
            </a:pPr>
            <a:r>
              <a:rPr lang="en-US" sz="3150" b="true">
                <a:solidFill>
                  <a:srgbClr val="1769E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0.3367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382500" y="7648575"/>
            <a:ext cx="400050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350">
                <a:solidFill>
                  <a:srgbClr val="60718A"/>
                </a:solidFill>
                <a:latin typeface="Source Sans 3"/>
                <a:ea typeface="Source Sans 3"/>
                <a:cs typeface="Source Sans 3"/>
                <a:sym typeface="Source Sans 3"/>
              </a:rPr>
              <a:t>PR-AUC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52500" y="7877175"/>
            <a:ext cx="9810750" cy="621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60718A"/>
                </a:solidFill>
                <a:latin typeface="Source Sans 3"/>
                <a:ea typeface="Source Sans 3"/>
                <a:cs typeface="Source Sans 3"/>
                <a:sym typeface="Source Sans 3"/>
              </a:rPr>
              <a:t>Accuracy alone is insufficient for imbalanced classification. Random Forest and HistGradientBoosting metrics beyond ROC-AUC were not reported.</a:t>
            </a:r>
          </a:p>
        </p:txBody>
      </p:sp>
      <p:sp>
        <p:nvSpPr>
          <p:cNvPr name="AutoShape 33" id="33"/>
          <p:cNvSpPr/>
          <p:nvPr/>
        </p:nvSpPr>
        <p:spPr>
          <a:xfrm>
            <a:off x="857250" y="9563100"/>
            <a:ext cx="16573500" cy="0"/>
          </a:xfrm>
          <a:prstGeom prst="line">
            <a:avLst/>
          </a:prstGeom>
          <a:ln cap="flat" w="9525">
            <a:solidFill>
              <a:srgbClr val="D9E3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4" id="34"/>
          <p:cNvSpPr txBox="true"/>
          <p:nvPr/>
        </p:nvSpPr>
        <p:spPr>
          <a:xfrm rot="0">
            <a:off x="857250" y="9753600"/>
            <a:ext cx="85725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96" b="true">
                <a:solidFill>
                  <a:srgbClr val="60718A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CODE ROOM HUB  •  MACHINE LEARNING INTERNSHIP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573500" y="9705975"/>
            <a:ext cx="85725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95"/>
              </a:lnSpc>
            </a:pPr>
            <a:r>
              <a:rPr lang="en-US" sz="1425">
                <a:solidFill>
                  <a:srgbClr val="10233F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542925"/>
            <a:ext cx="666750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14" b="true">
                <a:solidFill>
                  <a:srgbClr val="1769E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06  /  VALIDATION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7250" y="1019175"/>
            <a:ext cx="142875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10233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Cross-Validation &amp; Hyperparameter Tuning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57250" y="2095500"/>
            <a:ext cx="7810500" cy="6572250"/>
            <a:chOff x="0" y="0"/>
            <a:chExt cx="10414000" cy="8763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14000" cy="8763000"/>
            </a:xfrm>
            <a:custGeom>
              <a:avLst/>
              <a:gdLst/>
              <a:ahLst/>
              <a:cxnLst/>
              <a:rect r="r" b="b" t="t" l="l"/>
              <a:pathLst>
                <a:path h="8763000" w="10414000">
                  <a:moveTo>
                    <a:pt x="0" y="0"/>
                  </a:moveTo>
                  <a:lnTo>
                    <a:pt x="10414000" y="0"/>
                  </a:lnTo>
                  <a:lnTo>
                    <a:pt x="10414000" y="8763000"/>
                  </a:lnTo>
                  <a:lnTo>
                    <a:pt x="0" y="8763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0414000" cy="880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620250" y="2095500"/>
            <a:ext cx="7810500" cy="6572250"/>
            <a:chOff x="0" y="0"/>
            <a:chExt cx="10414000" cy="8763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14000" cy="8763000"/>
            </a:xfrm>
            <a:custGeom>
              <a:avLst/>
              <a:gdLst/>
              <a:ahLst/>
              <a:cxnLst/>
              <a:rect r="r" b="b" t="t" l="l"/>
              <a:pathLst>
                <a:path h="8763000" w="10414000">
                  <a:moveTo>
                    <a:pt x="0" y="0"/>
                  </a:moveTo>
                  <a:lnTo>
                    <a:pt x="10414000" y="0"/>
                  </a:lnTo>
                  <a:lnTo>
                    <a:pt x="10414000" y="8763000"/>
                  </a:lnTo>
                  <a:lnTo>
                    <a:pt x="0" y="8763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414000" cy="880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333500" y="2543175"/>
            <a:ext cx="619125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14" b="true">
                <a:solidFill>
                  <a:srgbClr val="1769E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5-FOLD STRATIFIED CV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33500" y="3162300"/>
            <a:ext cx="619125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 b="true">
                <a:solidFill>
                  <a:srgbClr val="1769E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0.7558 ± 0.0031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33500" y="3886200"/>
            <a:ext cx="381000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350">
                <a:solidFill>
                  <a:srgbClr val="60718A"/>
                </a:solidFill>
                <a:latin typeface="Source Sans 3"/>
                <a:ea typeface="Source Sans 3"/>
                <a:cs typeface="Source Sans 3"/>
                <a:sym typeface="Source Sans 3"/>
              </a:rPr>
              <a:t>MEAN ROC-AUC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33500" y="4933950"/>
            <a:ext cx="3810000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9"/>
              </a:lnSpc>
            </a:pPr>
            <a:r>
              <a:rPr lang="en-US" sz="3150" b="true">
                <a:solidFill>
                  <a:srgbClr val="10233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0.3264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33500" y="5553075"/>
            <a:ext cx="381000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350">
                <a:solidFill>
                  <a:srgbClr val="60718A"/>
                </a:solidFill>
                <a:latin typeface="Source Sans 3"/>
                <a:ea typeface="Source Sans 3"/>
                <a:cs typeface="Source Sans 3"/>
                <a:sym typeface="Source Sans 3"/>
              </a:rPr>
              <a:t>MEAN PR-AUC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33500" y="6924675"/>
            <a:ext cx="6191250" cy="621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60718A"/>
                </a:solidFill>
                <a:latin typeface="Source Sans 3"/>
                <a:ea typeface="Source Sans 3"/>
                <a:cs typeface="Source Sans 3"/>
                <a:sym typeface="Source Sans 3"/>
              </a:rPr>
              <a:t>A joblib warning was observed; validation completed successfully.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096500" y="2543175"/>
            <a:ext cx="619125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14" b="true">
                <a:solidFill>
                  <a:srgbClr val="1769E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RANDOMIZEDSEARCHCV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096500" y="3057525"/>
            <a:ext cx="5715000" cy="378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550" b="true">
                <a:solidFill>
                  <a:srgbClr val="10233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 folds  •  10 candidates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096500" y="3771900"/>
            <a:ext cx="638175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5"/>
              </a:lnSpc>
            </a:pPr>
            <a:r>
              <a:rPr lang="en-US" sz="1650">
                <a:solidFill>
                  <a:srgbClr val="10233F"/>
                </a:solidFill>
                <a:latin typeface="IBM Plex Mono"/>
                <a:ea typeface="IBM Plex Mono"/>
                <a:cs typeface="IBM Plex Mono"/>
                <a:sym typeface="IBM Plex Mono"/>
              </a:rPr>
              <a:t>C = 0.0745934328572655</a:t>
            </a:r>
          </a:p>
          <a:p>
            <a:pPr algn="l">
              <a:lnSpc>
                <a:spcPts val="2805"/>
              </a:lnSpc>
            </a:pPr>
            <a:r>
              <a:rPr lang="en-US" sz="1650">
                <a:solidFill>
                  <a:srgbClr val="10233F"/>
                </a:solidFill>
                <a:latin typeface="IBM Plex Mono"/>
                <a:ea typeface="IBM Plex Mono"/>
                <a:cs typeface="IBM Plex Mono"/>
                <a:sym typeface="IBM Plex Mono"/>
              </a:rPr>
              <a:t>class_weight = None</a:t>
            </a:r>
          </a:p>
          <a:p>
            <a:pPr algn="l">
              <a:lnSpc>
                <a:spcPts val="2805"/>
              </a:lnSpc>
            </a:pPr>
            <a:r>
              <a:rPr lang="en-US" sz="1650">
                <a:solidFill>
                  <a:srgbClr val="10233F"/>
                </a:solidFill>
                <a:latin typeface="IBM Plex Mono"/>
                <a:ea typeface="IBM Plex Mono"/>
                <a:cs typeface="IBM Plex Mono"/>
                <a:sym typeface="IBM Plex Mono"/>
              </a:rPr>
              <a:t>solver = liblinear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096500" y="5905500"/>
            <a:ext cx="57150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10233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BEST CV  0.7559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096500" y="6486525"/>
            <a:ext cx="571500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true">
                <a:solidFill>
                  <a:srgbClr val="1769E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TUNED TEST  0.7617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096500" y="7410450"/>
            <a:ext cx="619125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350">
                <a:solidFill>
                  <a:srgbClr val="60718A"/>
                </a:solidFill>
                <a:latin typeface="Source Sans 3"/>
                <a:ea typeface="Source Sans 3"/>
                <a:cs typeface="Source Sans 3"/>
                <a:sym typeface="Source Sans 3"/>
              </a:rPr>
              <a:t>Baseline and tuned test ROC-AUC are effectively identical.</a:t>
            </a:r>
          </a:p>
        </p:txBody>
      </p:sp>
      <p:sp>
        <p:nvSpPr>
          <p:cNvPr name="AutoShape 22" id="22"/>
          <p:cNvSpPr/>
          <p:nvPr/>
        </p:nvSpPr>
        <p:spPr>
          <a:xfrm>
            <a:off x="857250" y="9563100"/>
            <a:ext cx="16573500" cy="0"/>
          </a:xfrm>
          <a:prstGeom prst="line">
            <a:avLst/>
          </a:prstGeom>
          <a:ln cap="flat" w="9525">
            <a:solidFill>
              <a:srgbClr val="D9E3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857250" y="9753600"/>
            <a:ext cx="85725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96" b="true">
                <a:solidFill>
                  <a:srgbClr val="60718A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CODE ROOM HUB  •  MACHINE LEARNING INTERNSHIP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573500" y="9705975"/>
            <a:ext cx="85725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95"/>
              </a:lnSpc>
            </a:pPr>
            <a:r>
              <a:rPr lang="en-US" sz="1425">
                <a:solidFill>
                  <a:srgbClr val="10233F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542925"/>
            <a:ext cx="666750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14" b="true">
                <a:solidFill>
                  <a:srgbClr val="1769E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07  /  EXPLAINABILITY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7250" y="1019175"/>
            <a:ext cx="142875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10233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Explainable AI with SHAP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2500" y="2019300"/>
            <a:ext cx="8572500" cy="621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60718A"/>
                </a:solidFill>
                <a:latin typeface="Source Sans 3"/>
                <a:ea typeface="Source Sans 3"/>
                <a:cs typeface="Source Sans 3"/>
                <a:sym typeface="Source Sans 3"/>
              </a:rPr>
              <a:t>SHAP translates Logistic Regression predictions into feature-level contributions, making risk assessments easier to inspect and communicate.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2500" y="3305175"/>
            <a:ext cx="619125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14" b="true">
                <a:solidFill>
                  <a:srgbClr val="1769E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TOP SHAP FEATURES  /  RANKED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811000" y="2162175"/>
            <a:ext cx="476250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14" b="true">
                <a:solidFill>
                  <a:srgbClr val="1769E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EXAMPLE BORROWER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11000" y="2647950"/>
            <a:ext cx="4762500" cy="1003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89"/>
              </a:lnSpc>
            </a:pPr>
            <a:r>
              <a:rPr lang="en-US" sz="5850" b="true">
                <a:solidFill>
                  <a:srgbClr val="19A97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0.0302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11000" y="3695700"/>
            <a:ext cx="476250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350">
                <a:solidFill>
                  <a:srgbClr val="60718A"/>
                </a:solidFill>
                <a:latin typeface="Source Sans 3"/>
                <a:ea typeface="Source Sans 3"/>
                <a:cs typeface="Source Sans 3"/>
                <a:sym typeface="Source Sans 3"/>
              </a:rPr>
              <a:t>DEFAULT PROBABILITY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811000" y="4686300"/>
            <a:ext cx="4953000" cy="2202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18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Important factors</a:t>
            </a:r>
          </a:p>
          <a:p>
            <a:pPr algn="l">
              <a:lnSpc>
                <a:spcPts val="2970"/>
              </a:lnSpc>
            </a:pPr>
            <a:r>
              <a:rPr lang="en-US" sz="18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LoanToIncome</a:t>
            </a:r>
          </a:p>
          <a:p>
            <a:pPr algn="l">
              <a:lnSpc>
                <a:spcPts val="2970"/>
              </a:lnSpc>
            </a:pPr>
            <a:r>
              <a:rPr lang="en-US" sz="18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MonthsEmployed</a:t>
            </a:r>
          </a:p>
          <a:p>
            <a:pPr algn="l">
              <a:lnSpc>
                <a:spcPts val="2970"/>
              </a:lnSpc>
            </a:pPr>
            <a:r>
              <a:rPr lang="en-US" sz="18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EmploymentType_Full-time</a:t>
            </a:r>
          </a:p>
          <a:p>
            <a:pPr algn="l">
              <a:lnSpc>
                <a:spcPts val="2970"/>
              </a:lnSpc>
            </a:pPr>
            <a:r>
              <a:rPr lang="en-US" sz="18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Age</a:t>
            </a:r>
          </a:p>
          <a:p>
            <a:pPr algn="l">
              <a:lnSpc>
                <a:spcPts val="2970"/>
              </a:lnSpc>
            </a:pPr>
            <a:r>
              <a:rPr lang="en-US" sz="18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HasCoSigner_Yes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1334750" y="1952625"/>
            <a:ext cx="5715000" cy="6667500"/>
            <a:chOff x="0" y="0"/>
            <a:chExt cx="7620000" cy="889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20000" cy="8890000"/>
            </a:xfrm>
            <a:custGeom>
              <a:avLst/>
              <a:gdLst/>
              <a:ahLst/>
              <a:cxnLst/>
              <a:rect r="r" b="b" t="t" l="l"/>
              <a:pathLst>
                <a:path h="889000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8890000"/>
                  </a:lnTo>
                  <a:lnTo>
                    <a:pt x="0" y="8890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7620000" cy="892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811000" y="2162175"/>
            <a:ext cx="476250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14" b="true">
                <a:solidFill>
                  <a:srgbClr val="1769E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EXAMPLE BORROWER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811000" y="2647950"/>
            <a:ext cx="4762500" cy="1003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89"/>
              </a:lnSpc>
            </a:pPr>
            <a:r>
              <a:rPr lang="en-US" sz="5850" b="true">
                <a:solidFill>
                  <a:srgbClr val="19A97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0.0302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811000" y="3695700"/>
            <a:ext cx="476250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350">
                <a:solidFill>
                  <a:srgbClr val="60718A"/>
                </a:solidFill>
                <a:latin typeface="Source Sans 3"/>
                <a:ea typeface="Source Sans 3"/>
                <a:cs typeface="Source Sans 3"/>
                <a:sym typeface="Source Sans 3"/>
              </a:rPr>
              <a:t>DEFAULT PROBABILITY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811000" y="4686300"/>
            <a:ext cx="4953000" cy="2202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18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Important factors</a:t>
            </a:r>
          </a:p>
          <a:p>
            <a:pPr algn="l">
              <a:lnSpc>
                <a:spcPts val="2970"/>
              </a:lnSpc>
            </a:pPr>
            <a:r>
              <a:rPr lang="en-US" sz="18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LoanToIncome</a:t>
            </a:r>
          </a:p>
          <a:p>
            <a:pPr algn="l">
              <a:lnSpc>
                <a:spcPts val="2970"/>
              </a:lnSpc>
            </a:pPr>
            <a:r>
              <a:rPr lang="en-US" sz="18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MonthsEmployed</a:t>
            </a:r>
          </a:p>
          <a:p>
            <a:pPr algn="l">
              <a:lnSpc>
                <a:spcPts val="2970"/>
              </a:lnSpc>
            </a:pPr>
            <a:r>
              <a:rPr lang="en-US" sz="18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EmploymentType_Full-time</a:t>
            </a:r>
          </a:p>
          <a:p>
            <a:pPr algn="l">
              <a:lnSpc>
                <a:spcPts val="2970"/>
              </a:lnSpc>
            </a:pPr>
            <a:r>
              <a:rPr lang="en-US" sz="18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Age</a:t>
            </a:r>
          </a:p>
          <a:p>
            <a:pPr algn="l">
              <a:lnSpc>
                <a:spcPts val="2970"/>
              </a:lnSpc>
            </a:pPr>
            <a:r>
              <a:rPr lang="en-US" sz="1800">
                <a:solidFill>
                  <a:srgbClr val="10233F"/>
                </a:solidFill>
                <a:latin typeface="Source Sans 3"/>
                <a:ea typeface="Source Sans 3"/>
                <a:cs typeface="Source Sans 3"/>
                <a:sym typeface="Source Sans 3"/>
              </a:rPr>
              <a:t>HasCoSigner_Yes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52500" y="4095750"/>
            <a:ext cx="6477000" cy="400050"/>
            <a:chOff x="0" y="0"/>
            <a:chExt cx="8636000" cy="533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636000" cy="533400"/>
            </a:xfrm>
            <a:custGeom>
              <a:avLst/>
              <a:gdLst/>
              <a:ahLst/>
              <a:cxnLst/>
              <a:rect r="r" b="b" t="t" l="l"/>
              <a:pathLst>
                <a:path h="533400" w="8636000">
                  <a:moveTo>
                    <a:pt x="0" y="0"/>
                  </a:moveTo>
                  <a:lnTo>
                    <a:pt x="8636000" y="0"/>
                  </a:lnTo>
                  <a:lnTo>
                    <a:pt x="8636000" y="533400"/>
                  </a:lnTo>
                  <a:lnTo>
                    <a:pt x="0" y="533400"/>
                  </a:lnTo>
                  <a:close/>
                </a:path>
              </a:pathLst>
            </a:custGeom>
            <a:solidFill>
              <a:srgbClr val="176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86360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143000" y="4133850"/>
            <a:ext cx="5715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Age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52500" y="4810125"/>
            <a:ext cx="5762625" cy="400050"/>
            <a:chOff x="0" y="0"/>
            <a:chExt cx="7683500" cy="533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683500" cy="533400"/>
            </a:xfrm>
            <a:custGeom>
              <a:avLst/>
              <a:gdLst/>
              <a:ahLst/>
              <a:cxnLst/>
              <a:rect r="r" b="b" t="t" l="l"/>
              <a:pathLst>
                <a:path h="533400" w="7683500">
                  <a:moveTo>
                    <a:pt x="0" y="0"/>
                  </a:moveTo>
                  <a:lnTo>
                    <a:pt x="7683500" y="0"/>
                  </a:lnTo>
                  <a:lnTo>
                    <a:pt x="7683500" y="533400"/>
                  </a:lnTo>
                  <a:lnTo>
                    <a:pt x="0" y="533400"/>
                  </a:lnTo>
                  <a:close/>
                </a:path>
              </a:pathLst>
            </a:custGeom>
            <a:solidFill>
              <a:srgbClr val="176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7683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143000" y="4848225"/>
            <a:ext cx="5715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InterestRate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52500" y="5524500"/>
            <a:ext cx="5048250" cy="400050"/>
            <a:chOff x="0" y="0"/>
            <a:chExt cx="6731000" cy="533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731000" cy="533400"/>
            </a:xfrm>
            <a:custGeom>
              <a:avLst/>
              <a:gdLst/>
              <a:ahLst/>
              <a:cxnLst/>
              <a:rect r="r" b="b" t="t" l="l"/>
              <a:pathLst>
                <a:path h="533400" w="6731000">
                  <a:moveTo>
                    <a:pt x="0" y="0"/>
                  </a:moveTo>
                  <a:lnTo>
                    <a:pt x="6731000" y="0"/>
                  </a:lnTo>
                  <a:lnTo>
                    <a:pt x="6731000" y="533400"/>
                  </a:lnTo>
                  <a:lnTo>
                    <a:pt x="0" y="533400"/>
                  </a:lnTo>
                  <a:close/>
                </a:path>
              </a:pathLst>
            </a:custGeom>
            <a:solidFill>
              <a:srgbClr val="176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67310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143000" y="5562600"/>
            <a:ext cx="5715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LoanToIncome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52500" y="6238875"/>
            <a:ext cx="4333875" cy="400050"/>
            <a:chOff x="0" y="0"/>
            <a:chExt cx="5778500" cy="533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778500" cy="533400"/>
            </a:xfrm>
            <a:custGeom>
              <a:avLst/>
              <a:gdLst/>
              <a:ahLst/>
              <a:cxnLst/>
              <a:rect r="r" b="b" t="t" l="l"/>
              <a:pathLst>
                <a:path h="533400" w="5778500">
                  <a:moveTo>
                    <a:pt x="0" y="0"/>
                  </a:moveTo>
                  <a:lnTo>
                    <a:pt x="5778500" y="0"/>
                  </a:lnTo>
                  <a:lnTo>
                    <a:pt x="5778500" y="533400"/>
                  </a:lnTo>
                  <a:lnTo>
                    <a:pt x="0" y="533400"/>
                  </a:lnTo>
                  <a:close/>
                </a:path>
              </a:pathLst>
            </a:custGeom>
            <a:solidFill>
              <a:srgbClr val="10233F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577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143000" y="6276975"/>
            <a:ext cx="5715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MonthsEmployed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52500" y="6953250"/>
            <a:ext cx="3619500" cy="400050"/>
            <a:chOff x="0" y="0"/>
            <a:chExt cx="4826000" cy="533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826000" cy="533400"/>
            </a:xfrm>
            <a:custGeom>
              <a:avLst/>
              <a:gdLst/>
              <a:ahLst/>
              <a:cxnLst/>
              <a:rect r="r" b="b" t="t" l="l"/>
              <a:pathLst>
                <a:path h="533400" w="4826000">
                  <a:moveTo>
                    <a:pt x="0" y="0"/>
                  </a:moveTo>
                  <a:lnTo>
                    <a:pt x="4826000" y="0"/>
                  </a:lnTo>
                  <a:lnTo>
                    <a:pt x="4826000" y="533400"/>
                  </a:lnTo>
                  <a:lnTo>
                    <a:pt x="0" y="533400"/>
                  </a:lnTo>
                  <a:close/>
                </a:path>
              </a:pathLst>
            </a:custGeom>
            <a:solidFill>
              <a:srgbClr val="10233F"/>
            </a:solidFill>
            <a:ln cap="sq">
              <a:noFill/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48260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143000" y="6991350"/>
            <a:ext cx="5715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HasCoSigner_Yes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52500" y="7667625"/>
            <a:ext cx="2905125" cy="400050"/>
            <a:chOff x="0" y="0"/>
            <a:chExt cx="3873500" cy="533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873500" cy="533400"/>
            </a:xfrm>
            <a:custGeom>
              <a:avLst/>
              <a:gdLst/>
              <a:ahLst/>
              <a:cxnLst/>
              <a:rect r="r" b="b" t="t" l="l"/>
              <a:pathLst>
                <a:path h="533400" w="3873500">
                  <a:moveTo>
                    <a:pt x="0" y="0"/>
                  </a:moveTo>
                  <a:lnTo>
                    <a:pt x="3873500" y="0"/>
                  </a:lnTo>
                  <a:lnTo>
                    <a:pt x="3873500" y="533400"/>
                  </a:lnTo>
                  <a:lnTo>
                    <a:pt x="0" y="533400"/>
                  </a:lnTo>
                  <a:close/>
                </a:path>
              </a:pathLst>
            </a:custGeom>
            <a:solidFill>
              <a:srgbClr val="10233F"/>
            </a:solidFill>
            <a:ln cap="sq">
              <a:noFill/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3873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143000" y="7705725"/>
            <a:ext cx="5715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FFFF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HasDependents_Yes</a:t>
            </a:r>
          </a:p>
        </p:txBody>
      </p:sp>
      <p:sp>
        <p:nvSpPr>
          <p:cNvPr name="AutoShape 41" id="41"/>
          <p:cNvSpPr/>
          <p:nvPr/>
        </p:nvSpPr>
        <p:spPr>
          <a:xfrm>
            <a:off x="857250" y="9563100"/>
            <a:ext cx="16573500" cy="0"/>
          </a:xfrm>
          <a:prstGeom prst="line">
            <a:avLst/>
          </a:prstGeom>
          <a:ln cap="flat" w="9525">
            <a:solidFill>
              <a:srgbClr val="D9E3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2" id="42"/>
          <p:cNvSpPr txBox="true"/>
          <p:nvPr/>
        </p:nvSpPr>
        <p:spPr>
          <a:xfrm rot="0">
            <a:off x="857250" y="9753600"/>
            <a:ext cx="85725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96" b="true">
                <a:solidFill>
                  <a:srgbClr val="60718A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CODE ROOM HUB  •  MACHINE LEARNING INTERNSHIP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6573500" y="9705975"/>
            <a:ext cx="85725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95"/>
              </a:lnSpc>
            </a:pPr>
            <a:r>
              <a:rPr lang="en-US" sz="1425">
                <a:solidFill>
                  <a:srgbClr val="10233F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542925"/>
            <a:ext cx="666750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14" b="true">
                <a:solidFill>
                  <a:srgbClr val="1769E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08  /  DECISIONING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7250" y="1019175"/>
            <a:ext cx="142875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10233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Risk Scoring &amp; Decision Engine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523875" y="2333625"/>
            <a:ext cx="1809750" cy="1000125"/>
            <a:chOff x="0" y="0"/>
            <a:chExt cx="2413000" cy="13335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13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2413000">
                  <a:moveTo>
                    <a:pt x="106947" y="0"/>
                  </a:moveTo>
                  <a:lnTo>
                    <a:pt x="2306053" y="0"/>
                  </a:lnTo>
                  <a:cubicBezTo>
                    <a:pt x="2334417" y="0"/>
                    <a:pt x="2361619" y="11268"/>
                    <a:pt x="2381676" y="31324"/>
                  </a:cubicBezTo>
                  <a:cubicBezTo>
                    <a:pt x="2401732" y="51381"/>
                    <a:pt x="2413000" y="78583"/>
                    <a:pt x="2413000" y="106947"/>
                  </a:cubicBezTo>
                  <a:lnTo>
                    <a:pt x="2413000" y="1226553"/>
                  </a:lnTo>
                  <a:cubicBezTo>
                    <a:pt x="2413000" y="1254917"/>
                    <a:pt x="2401732" y="1282119"/>
                    <a:pt x="2381676" y="1302176"/>
                  </a:cubicBezTo>
                  <a:cubicBezTo>
                    <a:pt x="2361619" y="1322232"/>
                    <a:pt x="2334417" y="1333500"/>
                    <a:pt x="2306053" y="1333500"/>
                  </a:cubicBezTo>
                  <a:lnTo>
                    <a:pt x="106947" y="1333500"/>
                  </a:lnTo>
                  <a:cubicBezTo>
                    <a:pt x="78583" y="1333500"/>
                    <a:pt x="51381" y="1322232"/>
                    <a:pt x="31324" y="1302176"/>
                  </a:cubicBezTo>
                  <a:cubicBezTo>
                    <a:pt x="11268" y="1282119"/>
                    <a:pt x="0" y="1254917"/>
                    <a:pt x="0" y="1226553"/>
                  </a:cubicBezTo>
                  <a:lnTo>
                    <a:pt x="0" y="106947"/>
                  </a:lnTo>
                  <a:cubicBezTo>
                    <a:pt x="0" y="78583"/>
                    <a:pt x="11268" y="51381"/>
                    <a:pt x="31324" y="31324"/>
                  </a:cubicBezTo>
                  <a:cubicBezTo>
                    <a:pt x="51381" y="11268"/>
                    <a:pt x="78583" y="0"/>
                    <a:pt x="106947" y="0"/>
                  </a:cubicBezTo>
                  <a:close/>
                </a:path>
              </a:pathLst>
            </a:custGeom>
            <a:solidFill>
              <a:srgbClr val="176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19050"/>
              <a:ext cx="2413000" cy="1314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Borrower Input</a:t>
              </a:r>
            </a:p>
          </p:txBody>
        </p:sp>
      </p:grpSp>
      <p:sp>
        <p:nvSpPr>
          <p:cNvPr name="AutoShape 7" id="7"/>
          <p:cNvSpPr/>
          <p:nvPr/>
        </p:nvSpPr>
        <p:spPr>
          <a:xfrm>
            <a:off x="2333625" y="2828925"/>
            <a:ext cx="323850" cy="0"/>
          </a:xfrm>
          <a:prstGeom prst="line">
            <a:avLst/>
          </a:prstGeom>
          <a:ln cap="flat" w="19050">
            <a:solidFill>
              <a:srgbClr val="45C2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2733675" y="2333625"/>
            <a:ext cx="1809750" cy="1000125"/>
            <a:chOff x="0" y="0"/>
            <a:chExt cx="2413000" cy="1333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13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2413000">
                  <a:moveTo>
                    <a:pt x="106947" y="0"/>
                  </a:moveTo>
                  <a:lnTo>
                    <a:pt x="2306053" y="0"/>
                  </a:lnTo>
                  <a:cubicBezTo>
                    <a:pt x="2334417" y="0"/>
                    <a:pt x="2361619" y="11268"/>
                    <a:pt x="2381676" y="31324"/>
                  </a:cubicBezTo>
                  <a:cubicBezTo>
                    <a:pt x="2401732" y="51381"/>
                    <a:pt x="2413000" y="78583"/>
                    <a:pt x="2413000" y="106947"/>
                  </a:cubicBezTo>
                  <a:lnTo>
                    <a:pt x="2413000" y="1226553"/>
                  </a:lnTo>
                  <a:cubicBezTo>
                    <a:pt x="2413000" y="1254917"/>
                    <a:pt x="2401732" y="1282119"/>
                    <a:pt x="2381676" y="1302176"/>
                  </a:cubicBezTo>
                  <a:cubicBezTo>
                    <a:pt x="2361619" y="1322232"/>
                    <a:pt x="2334417" y="1333500"/>
                    <a:pt x="2306053" y="1333500"/>
                  </a:cubicBezTo>
                  <a:lnTo>
                    <a:pt x="106947" y="1333500"/>
                  </a:lnTo>
                  <a:cubicBezTo>
                    <a:pt x="78583" y="1333500"/>
                    <a:pt x="51381" y="1322232"/>
                    <a:pt x="31324" y="1302176"/>
                  </a:cubicBezTo>
                  <a:cubicBezTo>
                    <a:pt x="11268" y="1282119"/>
                    <a:pt x="0" y="1254917"/>
                    <a:pt x="0" y="1226553"/>
                  </a:cubicBezTo>
                  <a:lnTo>
                    <a:pt x="0" y="106947"/>
                  </a:lnTo>
                  <a:cubicBezTo>
                    <a:pt x="0" y="78583"/>
                    <a:pt x="11268" y="51381"/>
                    <a:pt x="31324" y="31324"/>
                  </a:cubicBezTo>
                  <a:cubicBezTo>
                    <a:pt x="51381" y="11268"/>
                    <a:pt x="78583" y="0"/>
                    <a:pt x="106947" y="0"/>
                  </a:cubicBezTo>
                  <a:close/>
                </a:path>
              </a:pathLst>
            </a:custGeom>
            <a:solidFill>
              <a:srgbClr val="176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19050"/>
              <a:ext cx="2413000" cy="1314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Feature Engineering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4543425" y="2828925"/>
            <a:ext cx="323850" cy="0"/>
          </a:xfrm>
          <a:prstGeom prst="line">
            <a:avLst/>
          </a:prstGeom>
          <a:ln cap="flat" w="19050">
            <a:solidFill>
              <a:srgbClr val="45C2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4943475" y="2333625"/>
            <a:ext cx="1809750" cy="1000125"/>
            <a:chOff x="0" y="0"/>
            <a:chExt cx="2413000" cy="1333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13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2413000">
                  <a:moveTo>
                    <a:pt x="106947" y="0"/>
                  </a:moveTo>
                  <a:lnTo>
                    <a:pt x="2306053" y="0"/>
                  </a:lnTo>
                  <a:cubicBezTo>
                    <a:pt x="2334417" y="0"/>
                    <a:pt x="2361619" y="11268"/>
                    <a:pt x="2381676" y="31324"/>
                  </a:cubicBezTo>
                  <a:cubicBezTo>
                    <a:pt x="2401732" y="51381"/>
                    <a:pt x="2413000" y="78583"/>
                    <a:pt x="2413000" y="106947"/>
                  </a:cubicBezTo>
                  <a:lnTo>
                    <a:pt x="2413000" y="1226553"/>
                  </a:lnTo>
                  <a:cubicBezTo>
                    <a:pt x="2413000" y="1254917"/>
                    <a:pt x="2401732" y="1282119"/>
                    <a:pt x="2381676" y="1302176"/>
                  </a:cubicBezTo>
                  <a:cubicBezTo>
                    <a:pt x="2361619" y="1322232"/>
                    <a:pt x="2334417" y="1333500"/>
                    <a:pt x="2306053" y="1333500"/>
                  </a:cubicBezTo>
                  <a:lnTo>
                    <a:pt x="106947" y="1333500"/>
                  </a:lnTo>
                  <a:cubicBezTo>
                    <a:pt x="78583" y="1333500"/>
                    <a:pt x="51381" y="1322232"/>
                    <a:pt x="31324" y="1302176"/>
                  </a:cubicBezTo>
                  <a:cubicBezTo>
                    <a:pt x="11268" y="1282119"/>
                    <a:pt x="0" y="1254917"/>
                    <a:pt x="0" y="1226553"/>
                  </a:cubicBezTo>
                  <a:lnTo>
                    <a:pt x="0" y="106947"/>
                  </a:lnTo>
                  <a:cubicBezTo>
                    <a:pt x="0" y="78583"/>
                    <a:pt x="11268" y="51381"/>
                    <a:pt x="31324" y="31324"/>
                  </a:cubicBezTo>
                  <a:cubicBezTo>
                    <a:pt x="51381" y="11268"/>
                    <a:pt x="78583" y="0"/>
                    <a:pt x="106947" y="0"/>
                  </a:cubicBezTo>
                  <a:close/>
                </a:path>
              </a:pathLst>
            </a:custGeom>
            <a:solidFill>
              <a:srgbClr val="176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19050"/>
              <a:ext cx="2413000" cy="1314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Preprocessing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6753225" y="2828925"/>
            <a:ext cx="323850" cy="0"/>
          </a:xfrm>
          <a:prstGeom prst="line">
            <a:avLst/>
          </a:prstGeom>
          <a:ln cap="flat" w="19050">
            <a:solidFill>
              <a:srgbClr val="45C2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7153275" y="2333625"/>
            <a:ext cx="1809750" cy="1000125"/>
            <a:chOff x="0" y="0"/>
            <a:chExt cx="2413000" cy="1333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13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2413000">
                  <a:moveTo>
                    <a:pt x="106947" y="0"/>
                  </a:moveTo>
                  <a:lnTo>
                    <a:pt x="2306053" y="0"/>
                  </a:lnTo>
                  <a:cubicBezTo>
                    <a:pt x="2334417" y="0"/>
                    <a:pt x="2361619" y="11268"/>
                    <a:pt x="2381676" y="31324"/>
                  </a:cubicBezTo>
                  <a:cubicBezTo>
                    <a:pt x="2401732" y="51381"/>
                    <a:pt x="2413000" y="78583"/>
                    <a:pt x="2413000" y="106947"/>
                  </a:cubicBezTo>
                  <a:lnTo>
                    <a:pt x="2413000" y="1226553"/>
                  </a:lnTo>
                  <a:cubicBezTo>
                    <a:pt x="2413000" y="1254917"/>
                    <a:pt x="2401732" y="1282119"/>
                    <a:pt x="2381676" y="1302176"/>
                  </a:cubicBezTo>
                  <a:cubicBezTo>
                    <a:pt x="2361619" y="1322232"/>
                    <a:pt x="2334417" y="1333500"/>
                    <a:pt x="2306053" y="1333500"/>
                  </a:cubicBezTo>
                  <a:lnTo>
                    <a:pt x="106947" y="1333500"/>
                  </a:lnTo>
                  <a:cubicBezTo>
                    <a:pt x="78583" y="1333500"/>
                    <a:pt x="51381" y="1322232"/>
                    <a:pt x="31324" y="1302176"/>
                  </a:cubicBezTo>
                  <a:cubicBezTo>
                    <a:pt x="11268" y="1282119"/>
                    <a:pt x="0" y="1254917"/>
                    <a:pt x="0" y="1226553"/>
                  </a:cubicBezTo>
                  <a:lnTo>
                    <a:pt x="0" y="106947"/>
                  </a:lnTo>
                  <a:cubicBezTo>
                    <a:pt x="0" y="78583"/>
                    <a:pt x="11268" y="51381"/>
                    <a:pt x="31324" y="31324"/>
                  </a:cubicBezTo>
                  <a:cubicBezTo>
                    <a:pt x="51381" y="11268"/>
                    <a:pt x="78583" y="0"/>
                    <a:pt x="106947" y="0"/>
                  </a:cubicBezTo>
                  <a:close/>
                </a:path>
              </a:pathLst>
            </a:custGeom>
            <a:solidFill>
              <a:srgbClr val="176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19050"/>
              <a:ext cx="2413000" cy="1314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Logistic Regression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>
            <a:off x="8963025" y="2828925"/>
            <a:ext cx="323850" cy="0"/>
          </a:xfrm>
          <a:prstGeom prst="line">
            <a:avLst/>
          </a:prstGeom>
          <a:ln cap="flat" w="19050">
            <a:solidFill>
              <a:srgbClr val="45C2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9363075" y="2333625"/>
            <a:ext cx="1809750" cy="1000125"/>
            <a:chOff x="0" y="0"/>
            <a:chExt cx="2413000" cy="13335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13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2413000">
                  <a:moveTo>
                    <a:pt x="106947" y="0"/>
                  </a:moveTo>
                  <a:lnTo>
                    <a:pt x="2306053" y="0"/>
                  </a:lnTo>
                  <a:cubicBezTo>
                    <a:pt x="2334417" y="0"/>
                    <a:pt x="2361619" y="11268"/>
                    <a:pt x="2381676" y="31324"/>
                  </a:cubicBezTo>
                  <a:cubicBezTo>
                    <a:pt x="2401732" y="51381"/>
                    <a:pt x="2413000" y="78583"/>
                    <a:pt x="2413000" y="106947"/>
                  </a:cubicBezTo>
                  <a:lnTo>
                    <a:pt x="2413000" y="1226553"/>
                  </a:lnTo>
                  <a:cubicBezTo>
                    <a:pt x="2413000" y="1254917"/>
                    <a:pt x="2401732" y="1282119"/>
                    <a:pt x="2381676" y="1302176"/>
                  </a:cubicBezTo>
                  <a:cubicBezTo>
                    <a:pt x="2361619" y="1322232"/>
                    <a:pt x="2334417" y="1333500"/>
                    <a:pt x="2306053" y="1333500"/>
                  </a:cubicBezTo>
                  <a:lnTo>
                    <a:pt x="106947" y="1333500"/>
                  </a:lnTo>
                  <a:cubicBezTo>
                    <a:pt x="78583" y="1333500"/>
                    <a:pt x="51381" y="1322232"/>
                    <a:pt x="31324" y="1302176"/>
                  </a:cubicBezTo>
                  <a:cubicBezTo>
                    <a:pt x="11268" y="1282119"/>
                    <a:pt x="0" y="1254917"/>
                    <a:pt x="0" y="1226553"/>
                  </a:cubicBezTo>
                  <a:lnTo>
                    <a:pt x="0" y="106947"/>
                  </a:lnTo>
                  <a:cubicBezTo>
                    <a:pt x="0" y="78583"/>
                    <a:pt x="11268" y="51381"/>
                    <a:pt x="31324" y="31324"/>
                  </a:cubicBezTo>
                  <a:cubicBezTo>
                    <a:pt x="51381" y="11268"/>
                    <a:pt x="78583" y="0"/>
                    <a:pt x="106947" y="0"/>
                  </a:cubicBezTo>
                  <a:close/>
                </a:path>
              </a:pathLst>
            </a:custGeom>
            <a:solidFill>
              <a:srgbClr val="176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19050"/>
              <a:ext cx="2413000" cy="1314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Default Probability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>
            <a:off x="11172825" y="2828925"/>
            <a:ext cx="323850" cy="0"/>
          </a:xfrm>
          <a:prstGeom prst="line">
            <a:avLst/>
          </a:prstGeom>
          <a:ln cap="flat" w="19050">
            <a:solidFill>
              <a:srgbClr val="45C2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11572875" y="2333625"/>
            <a:ext cx="1809750" cy="1000125"/>
            <a:chOff x="0" y="0"/>
            <a:chExt cx="2413000" cy="13335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413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2413000">
                  <a:moveTo>
                    <a:pt x="106947" y="0"/>
                  </a:moveTo>
                  <a:lnTo>
                    <a:pt x="2306053" y="0"/>
                  </a:lnTo>
                  <a:cubicBezTo>
                    <a:pt x="2334417" y="0"/>
                    <a:pt x="2361619" y="11268"/>
                    <a:pt x="2381676" y="31324"/>
                  </a:cubicBezTo>
                  <a:cubicBezTo>
                    <a:pt x="2401732" y="51381"/>
                    <a:pt x="2413000" y="78583"/>
                    <a:pt x="2413000" y="106947"/>
                  </a:cubicBezTo>
                  <a:lnTo>
                    <a:pt x="2413000" y="1226553"/>
                  </a:lnTo>
                  <a:cubicBezTo>
                    <a:pt x="2413000" y="1254917"/>
                    <a:pt x="2401732" y="1282119"/>
                    <a:pt x="2381676" y="1302176"/>
                  </a:cubicBezTo>
                  <a:cubicBezTo>
                    <a:pt x="2361619" y="1322232"/>
                    <a:pt x="2334417" y="1333500"/>
                    <a:pt x="2306053" y="1333500"/>
                  </a:cubicBezTo>
                  <a:lnTo>
                    <a:pt x="106947" y="1333500"/>
                  </a:lnTo>
                  <a:cubicBezTo>
                    <a:pt x="78583" y="1333500"/>
                    <a:pt x="51381" y="1322232"/>
                    <a:pt x="31324" y="1302176"/>
                  </a:cubicBezTo>
                  <a:cubicBezTo>
                    <a:pt x="11268" y="1282119"/>
                    <a:pt x="0" y="1254917"/>
                    <a:pt x="0" y="1226553"/>
                  </a:cubicBezTo>
                  <a:lnTo>
                    <a:pt x="0" y="106947"/>
                  </a:lnTo>
                  <a:cubicBezTo>
                    <a:pt x="0" y="78583"/>
                    <a:pt x="11268" y="51381"/>
                    <a:pt x="31324" y="31324"/>
                  </a:cubicBezTo>
                  <a:cubicBezTo>
                    <a:pt x="51381" y="11268"/>
                    <a:pt x="78583" y="0"/>
                    <a:pt x="106947" y="0"/>
                  </a:cubicBezTo>
                  <a:close/>
                </a:path>
              </a:pathLst>
            </a:custGeom>
            <a:solidFill>
              <a:srgbClr val="10233F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19050"/>
              <a:ext cx="2413000" cy="1314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Risk Score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>
            <a:off x="13382625" y="2828925"/>
            <a:ext cx="323850" cy="0"/>
          </a:xfrm>
          <a:prstGeom prst="line">
            <a:avLst/>
          </a:prstGeom>
          <a:ln cap="flat" w="19050">
            <a:solidFill>
              <a:srgbClr val="45C2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13782675" y="2333625"/>
            <a:ext cx="1809750" cy="1000125"/>
            <a:chOff x="0" y="0"/>
            <a:chExt cx="2413000" cy="13335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413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2413000">
                  <a:moveTo>
                    <a:pt x="106947" y="0"/>
                  </a:moveTo>
                  <a:lnTo>
                    <a:pt x="2306053" y="0"/>
                  </a:lnTo>
                  <a:cubicBezTo>
                    <a:pt x="2334417" y="0"/>
                    <a:pt x="2361619" y="11268"/>
                    <a:pt x="2381676" y="31324"/>
                  </a:cubicBezTo>
                  <a:cubicBezTo>
                    <a:pt x="2401732" y="51381"/>
                    <a:pt x="2413000" y="78583"/>
                    <a:pt x="2413000" y="106947"/>
                  </a:cubicBezTo>
                  <a:lnTo>
                    <a:pt x="2413000" y="1226553"/>
                  </a:lnTo>
                  <a:cubicBezTo>
                    <a:pt x="2413000" y="1254917"/>
                    <a:pt x="2401732" y="1282119"/>
                    <a:pt x="2381676" y="1302176"/>
                  </a:cubicBezTo>
                  <a:cubicBezTo>
                    <a:pt x="2361619" y="1322232"/>
                    <a:pt x="2334417" y="1333500"/>
                    <a:pt x="2306053" y="1333500"/>
                  </a:cubicBezTo>
                  <a:lnTo>
                    <a:pt x="106947" y="1333500"/>
                  </a:lnTo>
                  <a:cubicBezTo>
                    <a:pt x="78583" y="1333500"/>
                    <a:pt x="51381" y="1322232"/>
                    <a:pt x="31324" y="1302176"/>
                  </a:cubicBezTo>
                  <a:cubicBezTo>
                    <a:pt x="11268" y="1282119"/>
                    <a:pt x="0" y="1254917"/>
                    <a:pt x="0" y="1226553"/>
                  </a:cubicBezTo>
                  <a:lnTo>
                    <a:pt x="0" y="106947"/>
                  </a:lnTo>
                  <a:cubicBezTo>
                    <a:pt x="0" y="78583"/>
                    <a:pt x="11268" y="51381"/>
                    <a:pt x="31324" y="31324"/>
                  </a:cubicBezTo>
                  <a:cubicBezTo>
                    <a:pt x="51381" y="11268"/>
                    <a:pt x="78583" y="0"/>
                    <a:pt x="106947" y="0"/>
                  </a:cubicBezTo>
                  <a:close/>
                </a:path>
              </a:pathLst>
            </a:custGeom>
            <a:solidFill>
              <a:srgbClr val="10233F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19050"/>
              <a:ext cx="2413000" cy="1314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Risk Category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>
            <a:off x="15592425" y="2828925"/>
            <a:ext cx="323850" cy="0"/>
          </a:xfrm>
          <a:prstGeom prst="line">
            <a:avLst/>
          </a:prstGeom>
          <a:ln cap="flat" w="19050">
            <a:solidFill>
              <a:srgbClr val="45C2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0">
            <a:off x="15992475" y="2333625"/>
            <a:ext cx="1809750" cy="1000125"/>
            <a:chOff x="0" y="0"/>
            <a:chExt cx="2413000" cy="13335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413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2413000">
                  <a:moveTo>
                    <a:pt x="106947" y="0"/>
                  </a:moveTo>
                  <a:lnTo>
                    <a:pt x="2306053" y="0"/>
                  </a:lnTo>
                  <a:cubicBezTo>
                    <a:pt x="2334417" y="0"/>
                    <a:pt x="2361619" y="11268"/>
                    <a:pt x="2381676" y="31324"/>
                  </a:cubicBezTo>
                  <a:cubicBezTo>
                    <a:pt x="2401732" y="51381"/>
                    <a:pt x="2413000" y="78583"/>
                    <a:pt x="2413000" y="106947"/>
                  </a:cubicBezTo>
                  <a:lnTo>
                    <a:pt x="2413000" y="1226553"/>
                  </a:lnTo>
                  <a:cubicBezTo>
                    <a:pt x="2413000" y="1254917"/>
                    <a:pt x="2401732" y="1282119"/>
                    <a:pt x="2381676" y="1302176"/>
                  </a:cubicBezTo>
                  <a:cubicBezTo>
                    <a:pt x="2361619" y="1322232"/>
                    <a:pt x="2334417" y="1333500"/>
                    <a:pt x="2306053" y="1333500"/>
                  </a:cubicBezTo>
                  <a:lnTo>
                    <a:pt x="106947" y="1333500"/>
                  </a:lnTo>
                  <a:cubicBezTo>
                    <a:pt x="78583" y="1333500"/>
                    <a:pt x="51381" y="1322232"/>
                    <a:pt x="31324" y="1302176"/>
                  </a:cubicBezTo>
                  <a:cubicBezTo>
                    <a:pt x="11268" y="1282119"/>
                    <a:pt x="0" y="1254917"/>
                    <a:pt x="0" y="1226553"/>
                  </a:cubicBezTo>
                  <a:lnTo>
                    <a:pt x="0" y="106947"/>
                  </a:lnTo>
                  <a:cubicBezTo>
                    <a:pt x="0" y="78583"/>
                    <a:pt x="11268" y="51381"/>
                    <a:pt x="31324" y="31324"/>
                  </a:cubicBezTo>
                  <a:cubicBezTo>
                    <a:pt x="51381" y="11268"/>
                    <a:pt x="78583" y="0"/>
                    <a:pt x="106947" y="0"/>
                  </a:cubicBezTo>
                  <a:close/>
                </a:path>
              </a:pathLst>
            </a:custGeom>
            <a:solidFill>
              <a:srgbClr val="10233F"/>
            </a:solidFill>
            <a:ln cap="sq">
              <a:noFill/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19050"/>
              <a:ext cx="2413000" cy="1314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Decision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57250" y="4429125"/>
            <a:ext cx="5095875" cy="2286000"/>
            <a:chOff x="0" y="0"/>
            <a:chExt cx="6794500" cy="3048000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6794500" cy="3048000"/>
              <a:chOff x="0" y="0"/>
              <a:chExt cx="6794500" cy="30480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6794500" cy="3048000"/>
              </a:xfrm>
              <a:custGeom>
                <a:avLst/>
                <a:gdLst/>
                <a:ahLst/>
                <a:cxnLst/>
                <a:rect r="r" b="b" t="t" l="l"/>
                <a:pathLst>
                  <a:path h="3048000" w="6794500">
                    <a:moveTo>
                      <a:pt x="0" y="0"/>
                    </a:moveTo>
                    <a:lnTo>
                      <a:pt x="6794500" y="0"/>
                    </a:lnTo>
                    <a:lnTo>
                      <a:pt x="6794500" y="3048000"/>
                    </a:lnTo>
                    <a:lnTo>
                      <a:pt x="0" y="3048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6794500" cy="308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444500" y="396875"/>
              <a:ext cx="6096000" cy="581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75"/>
                </a:lnSpc>
              </a:pPr>
              <a:r>
                <a:rPr lang="en-US" sz="2625" b="true">
                  <a:solidFill>
                    <a:srgbClr val="19A974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&lt; 0.15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444500" y="1279525"/>
              <a:ext cx="6096000" cy="5073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2"/>
                </a:lnSpc>
              </a:pPr>
              <a:r>
                <a:rPr lang="en-US" sz="2550" b="true">
                  <a:solidFill>
                    <a:srgbClr val="10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LOW RISK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444500" y="2057400"/>
              <a:ext cx="6096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true">
                  <a:solidFill>
                    <a:srgbClr val="19A974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APPROVED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429375" y="4429125"/>
            <a:ext cx="5095875" cy="2286000"/>
            <a:chOff x="0" y="0"/>
            <a:chExt cx="6794500" cy="3048000"/>
          </a:xfrm>
        </p:grpSpPr>
        <p:grpSp>
          <p:nvGrpSpPr>
            <p:cNvPr name="Group 43" id="43"/>
            <p:cNvGrpSpPr/>
            <p:nvPr/>
          </p:nvGrpSpPr>
          <p:grpSpPr>
            <a:xfrm rot="0">
              <a:off x="0" y="0"/>
              <a:ext cx="6794500" cy="3048000"/>
              <a:chOff x="0" y="0"/>
              <a:chExt cx="6794500" cy="30480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6794500" cy="3048000"/>
              </a:xfrm>
              <a:custGeom>
                <a:avLst/>
                <a:gdLst/>
                <a:ahLst/>
                <a:cxnLst/>
                <a:rect r="r" b="b" t="t" l="l"/>
                <a:pathLst>
                  <a:path h="3048000" w="6794500">
                    <a:moveTo>
                      <a:pt x="0" y="0"/>
                    </a:moveTo>
                    <a:lnTo>
                      <a:pt x="6794500" y="0"/>
                    </a:lnTo>
                    <a:lnTo>
                      <a:pt x="6794500" y="3048000"/>
                    </a:lnTo>
                    <a:lnTo>
                      <a:pt x="0" y="3048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38100"/>
                <a:ext cx="6794500" cy="308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6" id="46"/>
            <p:cNvSpPr txBox="true"/>
            <p:nvPr/>
          </p:nvSpPr>
          <p:spPr>
            <a:xfrm rot="0">
              <a:off x="444500" y="396875"/>
              <a:ext cx="6096000" cy="581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75"/>
                </a:lnSpc>
              </a:pPr>
              <a:r>
                <a:rPr lang="en-US" sz="2625" b="true">
                  <a:solidFill>
                    <a:srgbClr val="F2A93B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0.15–0.35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444500" y="1279525"/>
              <a:ext cx="6096000" cy="5073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2"/>
                </a:lnSpc>
              </a:pPr>
              <a:r>
                <a:rPr lang="en-US" sz="2550" b="true">
                  <a:solidFill>
                    <a:srgbClr val="10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MEDIUM RISK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444500" y="2057400"/>
              <a:ext cx="6096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true">
                  <a:solidFill>
                    <a:srgbClr val="F2A93B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MANUAL REVIEW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001500" y="4429125"/>
            <a:ext cx="5095875" cy="2286000"/>
            <a:chOff x="0" y="0"/>
            <a:chExt cx="6794500" cy="3048000"/>
          </a:xfrm>
        </p:grpSpPr>
        <p:grpSp>
          <p:nvGrpSpPr>
            <p:cNvPr name="Group 50" id="50"/>
            <p:cNvGrpSpPr/>
            <p:nvPr/>
          </p:nvGrpSpPr>
          <p:grpSpPr>
            <a:xfrm rot="0">
              <a:off x="0" y="0"/>
              <a:ext cx="6794500" cy="3048000"/>
              <a:chOff x="0" y="0"/>
              <a:chExt cx="6794500" cy="3048000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6794500" cy="3048000"/>
              </a:xfrm>
              <a:custGeom>
                <a:avLst/>
                <a:gdLst/>
                <a:ahLst/>
                <a:cxnLst/>
                <a:rect r="r" b="b" t="t" l="l"/>
                <a:pathLst>
                  <a:path h="3048000" w="6794500">
                    <a:moveTo>
                      <a:pt x="0" y="0"/>
                    </a:moveTo>
                    <a:lnTo>
                      <a:pt x="6794500" y="0"/>
                    </a:lnTo>
                    <a:lnTo>
                      <a:pt x="6794500" y="3048000"/>
                    </a:lnTo>
                    <a:lnTo>
                      <a:pt x="0" y="3048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-38100"/>
                <a:ext cx="6794500" cy="308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3" id="53"/>
            <p:cNvSpPr txBox="true"/>
            <p:nvPr/>
          </p:nvSpPr>
          <p:spPr>
            <a:xfrm rot="0">
              <a:off x="444500" y="396875"/>
              <a:ext cx="6096000" cy="581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75"/>
                </a:lnSpc>
              </a:pPr>
              <a:r>
                <a:rPr lang="en-US" sz="2625" b="true">
                  <a:solidFill>
                    <a:srgbClr val="DF5263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&gt; 0.35</a:t>
              </a:r>
            </a:p>
          </p:txBody>
        </p:sp>
        <p:sp>
          <p:nvSpPr>
            <p:cNvPr name="TextBox 54" id="54"/>
            <p:cNvSpPr txBox="true"/>
            <p:nvPr/>
          </p:nvSpPr>
          <p:spPr>
            <a:xfrm rot="0">
              <a:off x="444500" y="1279525"/>
              <a:ext cx="6096000" cy="5073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2"/>
                </a:lnSpc>
              </a:pPr>
              <a:r>
                <a:rPr lang="en-US" sz="2550" b="true">
                  <a:solidFill>
                    <a:srgbClr val="10233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HIGH RISK</a:t>
              </a:r>
            </a:p>
          </p:txBody>
        </p:sp>
        <p:sp>
          <p:nvSpPr>
            <p:cNvPr name="TextBox 55" id="55"/>
            <p:cNvSpPr txBox="true"/>
            <p:nvPr/>
          </p:nvSpPr>
          <p:spPr>
            <a:xfrm rot="0">
              <a:off x="444500" y="2057400"/>
              <a:ext cx="6096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true">
                  <a:solidFill>
                    <a:srgbClr val="DF5263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REJECTED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952500" y="7477125"/>
            <a:ext cx="7620000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true">
                <a:solidFill>
                  <a:srgbClr val="10233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Risk Score = Default Probability × 100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52500" y="8048625"/>
            <a:ext cx="14287500" cy="373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75" b="true">
                <a:solidFill>
                  <a:srgbClr val="1769E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0.1984  →  19.84  →  MEDIUM RISK  →  MANUAL REVIEW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52500" y="8743950"/>
            <a:ext cx="1238250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350">
                <a:solidFill>
                  <a:srgbClr val="60718A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Probability and score intentionally represent the same quantity at different scales.</a:t>
            </a:r>
          </a:p>
        </p:txBody>
      </p:sp>
      <p:sp>
        <p:nvSpPr>
          <p:cNvPr name="AutoShape 59" id="59"/>
          <p:cNvSpPr/>
          <p:nvPr/>
        </p:nvSpPr>
        <p:spPr>
          <a:xfrm>
            <a:off x="857250" y="9563100"/>
            <a:ext cx="16573500" cy="0"/>
          </a:xfrm>
          <a:prstGeom prst="line">
            <a:avLst/>
          </a:prstGeom>
          <a:ln cap="flat" w="9525">
            <a:solidFill>
              <a:srgbClr val="D9E3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0" id="60"/>
          <p:cNvSpPr txBox="true"/>
          <p:nvPr/>
        </p:nvSpPr>
        <p:spPr>
          <a:xfrm rot="0">
            <a:off x="857250" y="9753600"/>
            <a:ext cx="85725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96" b="true">
                <a:solidFill>
                  <a:srgbClr val="60718A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CODE ROOM HUB  •  MACHINE LEARNING INTERNSHIP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6573500" y="9705975"/>
            <a:ext cx="85725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95"/>
              </a:lnSpc>
            </a:pPr>
            <a:r>
              <a:rPr lang="en-US" sz="1425">
                <a:solidFill>
                  <a:srgbClr val="10233F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542925"/>
            <a:ext cx="666750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14" b="true">
                <a:solidFill>
                  <a:srgbClr val="1769E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09  /  SYSTEM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7250" y="1019175"/>
            <a:ext cx="142875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10233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System Architecture &amp; Technology Stack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4095750" y="2190750"/>
            <a:ext cx="9906000" cy="5286375"/>
            <a:chOff x="0" y="0"/>
            <a:chExt cx="13208000" cy="70485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208000" cy="7048500"/>
            </a:xfrm>
            <a:custGeom>
              <a:avLst/>
              <a:gdLst/>
              <a:ahLst/>
              <a:cxnLst/>
              <a:rect r="r" b="b" t="t" l="l"/>
              <a:pathLst>
                <a:path h="7048500" w="13208000">
                  <a:moveTo>
                    <a:pt x="0" y="0"/>
                  </a:moveTo>
                  <a:lnTo>
                    <a:pt x="13208000" y="0"/>
                  </a:lnTo>
                  <a:lnTo>
                    <a:pt x="13208000" y="7048500"/>
                  </a:lnTo>
                  <a:lnTo>
                    <a:pt x="0" y="7048500"/>
                  </a:lnTo>
                  <a:close/>
                </a:path>
              </a:pathLst>
            </a:custGeom>
            <a:solidFill>
              <a:srgbClr val="E7F0FC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3208000" cy="708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7250" y="2857500"/>
            <a:ext cx="3286125" cy="1143000"/>
            <a:chOff x="0" y="0"/>
            <a:chExt cx="4381500" cy="1524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815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4381500">
                  <a:moveTo>
                    <a:pt x="58899" y="0"/>
                  </a:moveTo>
                  <a:lnTo>
                    <a:pt x="4322601" y="0"/>
                  </a:lnTo>
                  <a:cubicBezTo>
                    <a:pt x="4355130" y="0"/>
                    <a:pt x="4381500" y="26370"/>
                    <a:pt x="4381500" y="58899"/>
                  </a:cubicBezTo>
                  <a:lnTo>
                    <a:pt x="4381500" y="1465101"/>
                  </a:lnTo>
                  <a:cubicBezTo>
                    <a:pt x="4381500" y="1497630"/>
                    <a:pt x="4355130" y="1524000"/>
                    <a:pt x="4322601" y="1524000"/>
                  </a:cubicBezTo>
                  <a:lnTo>
                    <a:pt x="58899" y="1524000"/>
                  </a:lnTo>
                  <a:cubicBezTo>
                    <a:pt x="26370" y="1524000"/>
                    <a:pt x="0" y="1497630"/>
                    <a:pt x="0" y="1465101"/>
                  </a:cubicBezTo>
                  <a:lnTo>
                    <a:pt x="0" y="58899"/>
                  </a:lnTo>
                  <a:cubicBezTo>
                    <a:pt x="0" y="26370"/>
                    <a:pt x="26370" y="0"/>
                    <a:pt x="58899" y="0"/>
                  </a:cubicBezTo>
                  <a:close/>
                </a:path>
              </a:pathLst>
            </a:custGeom>
            <a:solidFill>
              <a:srgbClr val="19A974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4381500" cy="1504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User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4143375" y="3429000"/>
            <a:ext cx="762000" cy="0"/>
          </a:xfrm>
          <a:prstGeom prst="line">
            <a:avLst/>
          </a:prstGeom>
          <a:ln cap="flat" w="28575">
            <a:solidFill>
              <a:srgbClr val="45C2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5048250" y="2857500"/>
            <a:ext cx="3286125" cy="1143000"/>
            <a:chOff x="0" y="0"/>
            <a:chExt cx="4381500" cy="1524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3815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4381500">
                  <a:moveTo>
                    <a:pt x="58899" y="0"/>
                  </a:moveTo>
                  <a:lnTo>
                    <a:pt x="4322601" y="0"/>
                  </a:lnTo>
                  <a:cubicBezTo>
                    <a:pt x="4355130" y="0"/>
                    <a:pt x="4381500" y="26370"/>
                    <a:pt x="4381500" y="58899"/>
                  </a:cubicBezTo>
                  <a:lnTo>
                    <a:pt x="4381500" y="1465101"/>
                  </a:lnTo>
                  <a:cubicBezTo>
                    <a:pt x="4381500" y="1497630"/>
                    <a:pt x="4355130" y="1524000"/>
                    <a:pt x="4322601" y="1524000"/>
                  </a:cubicBezTo>
                  <a:lnTo>
                    <a:pt x="58899" y="1524000"/>
                  </a:lnTo>
                  <a:cubicBezTo>
                    <a:pt x="26370" y="1524000"/>
                    <a:pt x="0" y="1497630"/>
                    <a:pt x="0" y="1465101"/>
                  </a:cubicBezTo>
                  <a:lnTo>
                    <a:pt x="0" y="58899"/>
                  </a:lnTo>
                  <a:cubicBezTo>
                    <a:pt x="0" y="26370"/>
                    <a:pt x="26370" y="0"/>
                    <a:pt x="58899" y="0"/>
                  </a:cubicBezTo>
                  <a:close/>
                </a:path>
              </a:pathLst>
            </a:custGeom>
            <a:solidFill>
              <a:srgbClr val="10233F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19050"/>
              <a:ext cx="4381500" cy="1504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Streamlit Dashboard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8334375" y="3429000"/>
            <a:ext cx="762000" cy="0"/>
          </a:xfrm>
          <a:prstGeom prst="line">
            <a:avLst/>
          </a:prstGeom>
          <a:ln cap="flat" w="28575">
            <a:solidFill>
              <a:srgbClr val="45C2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9239250" y="2857500"/>
            <a:ext cx="3286125" cy="1143000"/>
            <a:chOff x="0" y="0"/>
            <a:chExt cx="4381500" cy="1524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3815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4381500">
                  <a:moveTo>
                    <a:pt x="58899" y="0"/>
                  </a:moveTo>
                  <a:lnTo>
                    <a:pt x="4322601" y="0"/>
                  </a:lnTo>
                  <a:cubicBezTo>
                    <a:pt x="4355130" y="0"/>
                    <a:pt x="4381500" y="26370"/>
                    <a:pt x="4381500" y="58899"/>
                  </a:cubicBezTo>
                  <a:lnTo>
                    <a:pt x="4381500" y="1465101"/>
                  </a:lnTo>
                  <a:cubicBezTo>
                    <a:pt x="4381500" y="1497630"/>
                    <a:pt x="4355130" y="1524000"/>
                    <a:pt x="4322601" y="1524000"/>
                  </a:cubicBezTo>
                  <a:lnTo>
                    <a:pt x="58899" y="1524000"/>
                  </a:lnTo>
                  <a:cubicBezTo>
                    <a:pt x="26370" y="1524000"/>
                    <a:pt x="0" y="1497630"/>
                    <a:pt x="0" y="1465101"/>
                  </a:cubicBezTo>
                  <a:lnTo>
                    <a:pt x="0" y="58899"/>
                  </a:lnTo>
                  <a:cubicBezTo>
                    <a:pt x="0" y="26370"/>
                    <a:pt x="26370" y="0"/>
                    <a:pt x="58899" y="0"/>
                  </a:cubicBezTo>
                  <a:close/>
                </a:path>
              </a:pathLst>
            </a:custGeom>
            <a:solidFill>
              <a:srgbClr val="176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19050"/>
              <a:ext cx="4381500" cy="1504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FastAPI REST API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12525375" y="3429000"/>
            <a:ext cx="762000" cy="0"/>
          </a:xfrm>
          <a:prstGeom prst="line">
            <a:avLst/>
          </a:prstGeom>
          <a:ln cap="flat" w="28575">
            <a:solidFill>
              <a:srgbClr val="45C2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13430250" y="2857500"/>
            <a:ext cx="3286125" cy="1143000"/>
            <a:chOff x="0" y="0"/>
            <a:chExt cx="4381500" cy="1524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3815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4381500">
                  <a:moveTo>
                    <a:pt x="58899" y="0"/>
                  </a:moveTo>
                  <a:lnTo>
                    <a:pt x="4322601" y="0"/>
                  </a:lnTo>
                  <a:cubicBezTo>
                    <a:pt x="4355130" y="0"/>
                    <a:pt x="4381500" y="26370"/>
                    <a:pt x="4381500" y="58899"/>
                  </a:cubicBezTo>
                  <a:lnTo>
                    <a:pt x="4381500" y="1465101"/>
                  </a:lnTo>
                  <a:cubicBezTo>
                    <a:pt x="4381500" y="1497630"/>
                    <a:pt x="4355130" y="1524000"/>
                    <a:pt x="4322601" y="1524000"/>
                  </a:cubicBezTo>
                  <a:lnTo>
                    <a:pt x="58899" y="1524000"/>
                  </a:lnTo>
                  <a:cubicBezTo>
                    <a:pt x="26370" y="1524000"/>
                    <a:pt x="0" y="1497630"/>
                    <a:pt x="0" y="1465101"/>
                  </a:cubicBezTo>
                  <a:lnTo>
                    <a:pt x="0" y="58899"/>
                  </a:lnTo>
                  <a:cubicBezTo>
                    <a:pt x="0" y="26370"/>
                    <a:pt x="26370" y="0"/>
                    <a:pt x="58899" y="0"/>
                  </a:cubicBezTo>
                  <a:close/>
                </a:path>
              </a:pathLst>
            </a:custGeom>
            <a:solidFill>
              <a:srgbClr val="176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19050"/>
              <a:ext cx="4381500" cy="1504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Feature Engineering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57250" y="5572125"/>
            <a:ext cx="3286125" cy="1143000"/>
            <a:chOff x="0" y="0"/>
            <a:chExt cx="4381500" cy="1524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3815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4381500">
                  <a:moveTo>
                    <a:pt x="58899" y="0"/>
                  </a:moveTo>
                  <a:lnTo>
                    <a:pt x="4322601" y="0"/>
                  </a:lnTo>
                  <a:cubicBezTo>
                    <a:pt x="4355130" y="0"/>
                    <a:pt x="4381500" y="26370"/>
                    <a:pt x="4381500" y="58899"/>
                  </a:cubicBezTo>
                  <a:lnTo>
                    <a:pt x="4381500" y="1465101"/>
                  </a:lnTo>
                  <a:cubicBezTo>
                    <a:pt x="4381500" y="1497630"/>
                    <a:pt x="4355130" y="1524000"/>
                    <a:pt x="4322601" y="1524000"/>
                  </a:cubicBezTo>
                  <a:lnTo>
                    <a:pt x="58899" y="1524000"/>
                  </a:lnTo>
                  <a:cubicBezTo>
                    <a:pt x="26370" y="1524000"/>
                    <a:pt x="0" y="1497630"/>
                    <a:pt x="0" y="1465101"/>
                  </a:cubicBezTo>
                  <a:lnTo>
                    <a:pt x="0" y="58899"/>
                  </a:lnTo>
                  <a:cubicBezTo>
                    <a:pt x="0" y="26370"/>
                    <a:pt x="26370" y="0"/>
                    <a:pt x="58899" y="0"/>
                  </a:cubicBezTo>
                  <a:close/>
                </a:path>
              </a:pathLst>
            </a:custGeom>
            <a:solidFill>
              <a:srgbClr val="176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19050"/>
              <a:ext cx="4381500" cy="1504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Saved ColumnTransformer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>
            <a:off x="4143375" y="6143625"/>
            <a:ext cx="762000" cy="0"/>
          </a:xfrm>
          <a:prstGeom prst="line">
            <a:avLst/>
          </a:prstGeom>
          <a:ln cap="flat" w="28575">
            <a:solidFill>
              <a:srgbClr val="45C2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5048250" y="5572125"/>
            <a:ext cx="3286125" cy="1143000"/>
            <a:chOff x="0" y="0"/>
            <a:chExt cx="4381500" cy="1524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3815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4381500">
                  <a:moveTo>
                    <a:pt x="58899" y="0"/>
                  </a:moveTo>
                  <a:lnTo>
                    <a:pt x="4322601" y="0"/>
                  </a:lnTo>
                  <a:cubicBezTo>
                    <a:pt x="4355130" y="0"/>
                    <a:pt x="4381500" y="26370"/>
                    <a:pt x="4381500" y="58899"/>
                  </a:cubicBezTo>
                  <a:lnTo>
                    <a:pt x="4381500" y="1465101"/>
                  </a:lnTo>
                  <a:cubicBezTo>
                    <a:pt x="4381500" y="1497630"/>
                    <a:pt x="4355130" y="1524000"/>
                    <a:pt x="4322601" y="1524000"/>
                  </a:cubicBezTo>
                  <a:lnTo>
                    <a:pt x="58899" y="1524000"/>
                  </a:lnTo>
                  <a:cubicBezTo>
                    <a:pt x="26370" y="1524000"/>
                    <a:pt x="0" y="1497630"/>
                    <a:pt x="0" y="1465101"/>
                  </a:cubicBezTo>
                  <a:lnTo>
                    <a:pt x="0" y="58899"/>
                  </a:lnTo>
                  <a:cubicBezTo>
                    <a:pt x="0" y="26370"/>
                    <a:pt x="26370" y="0"/>
                    <a:pt x="58899" y="0"/>
                  </a:cubicBezTo>
                  <a:close/>
                </a:path>
              </a:pathLst>
            </a:custGeom>
            <a:solidFill>
              <a:srgbClr val="176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19050"/>
              <a:ext cx="4381500" cy="1504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Saved Logistic Regression</a:t>
              </a:r>
            </a:p>
          </p:txBody>
        </p:sp>
      </p:grpSp>
      <p:sp>
        <p:nvSpPr>
          <p:cNvPr name="AutoShape 29" id="29"/>
          <p:cNvSpPr/>
          <p:nvPr/>
        </p:nvSpPr>
        <p:spPr>
          <a:xfrm>
            <a:off x="8334375" y="6143625"/>
            <a:ext cx="762000" cy="0"/>
          </a:xfrm>
          <a:prstGeom prst="line">
            <a:avLst/>
          </a:prstGeom>
          <a:ln cap="flat" w="28575">
            <a:solidFill>
              <a:srgbClr val="45C2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0" id="30"/>
          <p:cNvGrpSpPr/>
          <p:nvPr/>
        </p:nvGrpSpPr>
        <p:grpSpPr>
          <a:xfrm rot="0">
            <a:off x="9239250" y="5572125"/>
            <a:ext cx="3286125" cy="1143000"/>
            <a:chOff x="0" y="0"/>
            <a:chExt cx="4381500" cy="1524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3815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4381500">
                  <a:moveTo>
                    <a:pt x="58899" y="0"/>
                  </a:moveTo>
                  <a:lnTo>
                    <a:pt x="4322601" y="0"/>
                  </a:lnTo>
                  <a:cubicBezTo>
                    <a:pt x="4355130" y="0"/>
                    <a:pt x="4381500" y="26370"/>
                    <a:pt x="4381500" y="58899"/>
                  </a:cubicBezTo>
                  <a:lnTo>
                    <a:pt x="4381500" y="1465101"/>
                  </a:lnTo>
                  <a:cubicBezTo>
                    <a:pt x="4381500" y="1497630"/>
                    <a:pt x="4355130" y="1524000"/>
                    <a:pt x="4322601" y="1524000"/>
                  </a:cubicBezTo>
                  <a:lnTo>
                    <a:pt x="58899" y="1524000"/>
                  </a:lnTo>
                  <a:cubicBezTo>
                    <a:pt x="26370" y="1524000"/>
                    <a:pt x="0" y="1497630"/>
                    <a:pt x="0" y="1465101"/>
                  </a:cubicBezTo>
                  <a:lnTo>
                    <a:pt x="0" y="58899"/>
                  </a:lnTo>
                  <a:cubicBezTo>
                    <a:pt x="0" y="26370"/>
                    <a:pt x="26370" y="0"/>
                    <a:pt x="58899" y="0"/>
                  </a:cubicBezTo>
                  <a:close/>
                </a:path>
              </a:pathLst>
            </a:custGeom>
            <a:solidFill>
              <a:srgbClr val="1769E0"/>
            </a:soli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19050"/>
              <a:ext cx="4381500" cy="1504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Prediction</a:t>
              </a:r>
            </a:p>
          </p:txBody>
        </p:sp>
      </p:grpSp>
      <p:sp>
        <p:nvSpPr>
          <p:cNvPr name="AutoShape 33" id="33"/>
          <p:cNvSpPr/>
          <p:nvPr/>
        </p:nvSpPr>
        <p:spPr>
          <a:xfrm>
            <a:off x="12525375" y="6143625"/>
            <a:ext cx="762000" cy="0"/>
          </a:xfrm>
          <a:prstGeom prst="line">
            <a:avLst/>
          </a:prstGeom>
          <a:ln cap="flat" w="28575">
            <a:solidFill>
              <a:srgbClr val="45C2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4" id="34"/>
          <p:cNvGrpSpPr/>
          <p:nvPr/>
        </p:nvGrpSpPr>
        <p:grpSpPr>
          <a:xfrm rot="0">
            <a:off x="13430250" y="5572125"/>
            <a:ext cx="3286125" cy="1143000"/>
            <a:chOff x="0" y="0"/>
            <a:chExt cx="4381500" cy="1524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3815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4381500">
                  <a:moveTo>
                    <a:pt x="58899" y="0"/>
                  </a:moveTo>
                  <a:lnTo>
                    <a:pt x="4322601" y="0"/>
                  </a:lnTo>
                  <a:cubicBezTo>
                    <a:pt x="4355130" y="0"/>
                    <a:pt x="4381500" y="26370"/>
                    <a:pt x="4381500" y="58899"/>
                  </a:cubicBezTo>
                  <a:lnTo>
                    <a:pt x="4381500" y="1465101"/>
                  </a:lnTo>
                  <a:cubicBezTo>
                    <a:pt x="4381500" y="1497630"/>
                    <a:pt x="4355130" y="1524000"/>
                    <a:pt x="4322601" y="1524000"/>
                  </a:cubicBezTo>
                  <a:lnTo>
                    <a:pt x="58899" y="1524000"/>
                  </a:lnTo>
                  <a:cubicBezTo>
                    <a:pt x="26370" y="1524000"/>
                    <a:pt x="0" y="1497630"/>
                    <a:pt x="0" y="1465101"/>
                  </a:cubicBezTo>
                  <a:lnTo>
                    <a:pt x="0" y="58899"/>
                  </a:lnTo>
                  <a:cubicBezTo>
                    <a:pt x="0" y="26370"/>
                    <a:pt x="26370" y="0"/>
                    <a:pt x="58899" y="0"/>
                  </a:cubicBezTo>
                  <a:close/>
                </a:path>
              </a:pathLst>
            </a:custGeom>
            <a:solidFill>
              <a:srgbClr val="19A974"/>
            </a:solidFill>
            <a:ln cap="sq">
              <a:noFill/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19050"/>
              <a:ext cx="4381500" cy="1504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50"/>
                </a:lnSpc>
              </a:pPr>
              <a:r>
                <a:rPr lang="en-US" sz="150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Risk Assessment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952500" y="7781925"/>
            <a:ext cx="381000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14" b="true">
                <a:solidFill>
                  <a:srgbClr val="1769E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TECHNOLOGY STACK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52500" y="8201025"/>
            <a:ext cx="16192500" cy="568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>
                <a:solidFill>
                  <a:srgbClr val="10233F"/>
                </a:solidFill>
                <a:latin typeface="IBM Plex Mono"/>
                <a:ea typeface="IBM Plex Mono"/>
                <a:cs typeface="IBM Plex Mono"/>
                <a:sym typeface="IBM Plex Mono"/>
              </a:rPr>
              <a:t>Python  •  Pandas  •  NumPy  •  Scikit-learn  •  FastAPI  •  Uvicorn  •  Streamlit  •  SHAP  •  Joblib  •  Docker  •  Railway  •  GitHub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858000" y="2305050"/>
            <a:ext cx="43815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 b="true">
                <a:solidFill>
                  <a:srgbClr val="1769E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DOCKER CONTAINER</a:t>
            </a:r>
          </a:p>
        </p:txBody>
      </p:sp>
      <p:sp>
        <p:nvSpPr>
          <p:cNvPr name="AutoShape 40" id="40"/>
          <p:cNvSpPr/>
          <p:nvPr/>
        </p:nvSpPr>
        <p:spPr>
          <a:xfrm>
            <a:off x="857250" y="9563100"/>
            <a:ext cx="16573500" cy="0"/>
          </a:xfrm>
          <a:prstGeom prst="line">
            <a:avLst/>
          </a:prstGeom>
          <a:ln cap="flat" w="9525">
            <a:solidFill>
              <a:srgbClr val="D9E3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1" id="41"/>
          <p:cNvSpPr txBox="true"/>
          <p:nvPr/>
        </p:nvSpPr>
        <p:spPr>
          <a:xfrm rot="0">
            <a:off x="857250" y="9753600"/>
            <a:ext cx="85725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96" b="true">
                <a:solidFill>
                  <a:srgbClr val="60718A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CODE ROOM HUB  •  MACHINE LEARNING INTERNSHIP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573500" y="9705975"/>
            <a:ext cx="85725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95"/>
              </a:lnSpc>
            </a:pPr>
            <a:r>
              <a:rPr lang="en-US" sz="1425">
                <a:solidFill>
                  <a:srgbClr val="10233F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542925"/>
            <a:ext cx="666750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14" b="true">
                <a:solidFill>
                  <a:srgbClr val="1769E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10  /  PRODUCTION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7250" y="1019175"/>
            <a:ext cx="14287500" cy="66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800" b="true">
                <a:solidFill>
                  <a:srgbClr val="10233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Deployment &amp; Application Demonstration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2500" y="2019300"/>
            <a:ext cx="476250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14" b="true">
                <a:solidFill>
                  <a:srgbClr val="1769E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LIVE ON RAILWAY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2500" y="2571750"/>
            <a:ext cx="8763000" cy="2126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425">
                <a:solidFill>
                  <a:srgbClr val="10233F"/>
                </a:solidFill>
                <a:latin typeface="IBM Plex Mono"/>
                <a:ea typeface="IBM Plex Mono"/>
                <a:cs typeface="IBM Plex Mono"/>
                <a:sym typeface="IBM Plex Mono"/>
              </a:rPr>
              <a:t>Backend</a:t>
            </a:r>
          </a:p>
          <a:p>
            <a:pPr algn="l">
              <a:lnSpc>
                <a:spcPts val="2137"/>
              </a:lnSpc>
            </a:pPr>
            <a:r>
              <a:rPr lang="en-US" sz="1425">
                <a:solidFill>
                  <a:srgbClr val="10233F"/>
                </a:solidFill>
                <a:latin typeface="IBM Plex Mono"/>
                <a:ea typeface="IBM Plex Mono"/>
                <a:cs typeface="IBM Plex Mono"/>
                <a:sym typeface="IBM Plex Mono"/>
              </a:rPr>
              <a:t>https://credit-risk-assessment-system-production.up.railway.app/</a:t>
            </a:r>
          </a:p>
          <a:p>
            <a:pPr algn="l">
              <a:lnSpc>
                <a:spcPts val="2137"/>
              </a:lnSpc>
            </a:pPr>
          </a:p>
          <a:p>
            <a:pPr algn="l">
              <a:lnSpc>
                <a:spcPts val="2137"/>
              </a:lnSpc>
            </a:pPr>
            <a:r>
              <a:rPr lang="en-US" sz="1425">
                <a:solidFill>
                  <a:srgbClr val="10233F"/>
                </a:solidFill>
                <a:latin typeface="IBM Plex Mono"/>
                <a:ea typeface="IBM Plex Mono"/>
                <a:cs typeface="IBM Plex Mono"/>
                <a:sym typeface="IBM Plex Mono"/>
              </a:rPr>
              <a:t>Dashboard</a:t>
            </a:r>
          </a:p>
          <a:p>
            <a:pPr algn="l">
              <a:lnSpc>
                <a:spcPts val="2137"/>
              </a:lnSpc>
            </a:pPr>
            <a:r>
              <a:rPr lang="en-US" sz="1425">
                <a:solidFill>
                  <a:srgbClr val="10233F"/>
                </a:solidFill>
                <a:latin typeface="IBM Plex Mono"/>
                <a:ea typeface="IBM Plex Mono"/>
                <a:cs typeface="IBM Plex Mono"/>
                <a:sym typeface="IBM Plex Mono"/>
              </a:rPr>
              <a:t>https://dashboard-production-703e.up.railway.app/</a:t>
            </a:r>
          </a:p>
          <a:p>
            <a:pPr algn="l">
              <a:lnSpc>
                <a:spcPts val="2137"/>
              </a:lnSpc>
            </a:pPr>
          </a:p>
          <a:p>
            <a:pPr algn="l">
              <a:lnSpc>
                <a:spcPts val="2137"/>
              </a:lnSpc>
            </a:pPr>
            <a:r>
              <a:rPr lang="en-US" sz="1425">
                <a:solidFill>
                  <a:srgbClr val="10233F"/>
                </a:solidFill>
                <a:latin typeface="IBM Plex Mono"/>
                <a:ea typeface="IBM Plex Mono"/>
                <a:cs typeface="IBM Plex Mono"/>
                <a:sym typeface="IBM Plex Mono"/>
              </a:rPr>
              <a:t>GitHub</a:t>
            </a:r>
          </a:p>
          <a:p>
            <a:pPr algn="l">
              <a:lnSpc>
                <a:spcPts val="2137"/>
              </a:lnSpc>
            </a:pPr>
            <a:r>
              <a:rPr lang="en-US" sz="1425">
                <a:solidFill>
                  <a:srgbClr val="10233F"/>
                </a:solidFill>
                <a:latin typeface="IBM Plex Mono"/>
                <a:ea typeface="IBM Plex Mono"/>
                <a:cs typeface="IBM Plex Mono"/>
                <a:sym typeface="IBM Plex Mono"/>
              </a:rPr>
              <a:t>https://github.com/Seerat-Un-Nisa/Credit-Risk-Assessment-System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500" y="6734175"/>
            <a:ext cx="428625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14" b="true">
                <a:solidFill>
                  <a:srgbClr val="1769E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API ENDPOINTS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2500" y="7200900"/>
            <a:ext cx="85725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 b="true">
                <a:solidFill>
                  <a:srgbClr val="1769E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GET /   GET /health   GET /model-info   POST /predict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0" y="1952625"/>
            <a:ext cx="6191250" cy="6477000"/>
            <a:chOff x="0" y="0"/>
            <a:chExt cx="8255000" cy="863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55000" cy="8636000"/>
            </a:xfrm>
            <a:custGeom>
              <a:avLst/>
              <a:gdLst/>
              <a:ahLst/>
              <a:cxnLst/>
              <a:rect r="r" b="b" t="t" l="l"/>
              <a:pathLst>
                <a:path h="8636000" w="8255000">
                  <a:moveTo>
                    <a:pt x="0" y="0"/>
                  </a:moveTo>
                  <a:lnTo>
                    <a:pt x="8255000" y="0"/>
                  </a:lnTo>
                  <a:lnTo>
                    <a:pt x="8255000" y="8636000"/>
                  </a:lnTo>
                  <a:lnTo>
                    <a:pt x="0" y="8636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255000" cy="867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0" y="1952625"/>
            <a:ext cx="6191250" cy="685800"/>
            <a:chOff x="0" y="0"/>
            <a:chExt cx="8255000" cy="914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255000" cy="914400"/>
            </a:xfrm>
            <a:custGeom>
              <a:avLst/>
              <a:gdLst/>
              <a:ahLst/>
              <a:cxnLst/>
              <a:rect r="r" b="b" t="t" l="l"/>
              <a:pathLst>
                <a:path h="914400" w="8255000">
                  <a:moveTo>
                    <a:pt x="0" y="0"/>
                  </a:moveTo>
                  <a:lnTo>
                    <a:pt x="8255000" y="0"/>
                  </a:lnTo>
                  <a:lnTo>
                    <a:pt x="82550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10233F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255000" cy="952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858500" y="2114550"/>
            <a:ext cx="523875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14" b="true">
                <a:solidFill>
                  <a:srgbClr val="1769E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DASHBOARD UI MOCKUP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334750" y="3390900"/>
            <a:ext cx="4476750" cy="378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550" b="true">
                <a:solidFill>
                  <a:srgbClr val="10233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Prediction complete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334750" y="4181475"/>
            <a:ext cx="4476750" cy="92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 b="true">
                <a:solidFill>
                  <a:srgbClr val="19A97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2.49%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334750" y="5419725"/>
            <a:ext cx="4572000" cy="1196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 b="true">
                <a:solidFill>
                  <a:srgbClr val="10233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Risk Score   2.49</a:t>
            </a:r>
          </a:p>
          <a:p>
            <a:pPr algn="l">
              <a:lnSpc>
                <a:spcPts val="3240"/>
              </a:lnSpc>
            </a:pPr>
            <a:r>
              <a:rPr lang="en-US" sz="1800" b="true">
                <a:solidFill>
                  <a:srgbClr val="10233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Risk Category   Low Risk</a:t>
            </a:r>
          </a:p>
          <a:p>
            <a:pPr algn="l">
              <a:lnSpc>
                <a:spcPts val="3240"/>
              </a:lnSpc>
            </a:pPr>
            <a:r>
              <a:rPr lang="en-US" sz="1800" b="true">
                <a:solidFill>
                  <a:srgbClr val="10233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Decision   APPROVED</a:t>
            </a:r>
          </a:p>
        </p:txBody>
      </p:sp>
      <p:sp>
        <p:nvSpPr>
          <p:cNvPr name="AutoShape 18" id="18"/>
          <p:cNvSpPr/>
          <p:nvPr/>
        </p:nvSpPr>
        <p:spPr>
          <a:xfrm>
            <a:off x="857250" y="9563100"/>
            <a:ext cx="16573500" cy="0"/>
          </a:xfrm>
          <a:prstGeom prst="line">
            <a:avLst/>
          </a:prstGeom>
          <a:ln cap="flat" w="9525">
            <a:solidFill>
              <a:srgbClr val="D9E3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857250" y="9753600"/>
            <a:ext cx="85725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96" b="true">
                <a:solidFill>
                  <a:srgbClr val="60718A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CODE ROOM HUB  •  MACHINE LEARNING INTERNSHIP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573500" y="9705975"/>
            <a:ext cx="85725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95"/>
              </a:lnSpc>
            </a:pPr>
            <a:r>
              <a:rPr lang="en-US" sz="1425">
                <a:solidFill>
                  <a:srgbClr val="10233F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718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542925"/>
            <a:ext cx="476250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14" b="true">
                <a:solidFill>
                  <a:srgbClr val="45C2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11  /  CLOSE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7250" y="1123950"/>
            <a:ext cx="11430000" cy="1332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7"/>
              </a:lnSpc>
            </a:pPr>
            <a:r>
              <a:rPr lang="en-US" sz="49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Built end-to-end.</a:t>
            </a:r>
          </a:p>
          <a:p>
            <a:pPr algn="l">
              <a:lnSpc>
                <a:spcPts val="5197"/>
              </a:lnSpc>
            </a:pPr>
            <a:r>
              <a:rPr lang="en-US" sz="49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Ready to validate further.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57250" y="2762250"/>
            <a:ext cx="16573500" cy="19050"/>
            <a:chOff x="0" y="0"/>
            <a:chExt cx="220980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98000" cy="25400"/>
            </a:xfrm>
            <a:custGeom>
              <a:avLst/>
              <a:gdLst/>
              <a:ahLst/>
              <a:cxnLst/>
              <a:rect r="r" b="b" t="t" l="l"/>
              <a:pathLst>
                <a:path h="254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27415F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098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52500" y="3114675"/>
            <a:ext cx="381000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14" b="true">
                <a:solidFill>
                  <a:srgbClr val="45C2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CONCLUSION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2500" y="3581400"/>
            <a:ext cx="4857750" cy="908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>
                <a:solidFill>
                  <a:srgbClr val="C7D8EB"/>
                </a:solidFill>
                <a:latin typeface="Source Sans 3"/>
                <a:ea typeface="Source Sans 3"/>
                <a:cs typeface="Source Sans 3"/>
                <a:sym typeface="Source Sans 3"/>
              </a:rPr>
              <a:t>Developed an end-to-end credit risk system combining ML, explainability, REST API, Docker, and an interactive dashboard.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715125" y="3114675"/>
            <a:ext cx="333375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14" b="true">
                <a:solidFill>
                  <a:srgbClr val="45C2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LIMITATIONS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715125" y="3581400"/>
            <a:ext cx="4953000" cy="1749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Relatively low positive-class recall</a:t>
            </a:r>
          </a:p>
          <a:p>
            <a:pPr algn="l">
              <a:lnSpc>
                <a:spcPts val="2362"/>
              </a:lnSpc>
            </a:pPr>
            <a:r>
              <a:rPr lang="en-US" sz="1575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Class imbalance</a:t>
            </a:r>
          </a:p>
          <a:p>
            <a:pPr algn="l">
              <a:lnSpc>
                <a:spcPts val="2362"/>
              </a:lnSpc>
            </a:pPr>
            <a:r>
              <a:rPr lang="en-US" sz="1575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Rule-based thresholds need validation against real credit policy and business costs</a:t>
            </a:r>
          </a:p>
          <a:p>
            <a:pPr algn="l">
              <a:lnSpc>
                <a:spcPts val="2362"/>
              </a:lnSpc>
            </a:pPr>
            <a:r>
              <a:rPr lang="en-US" sz="1575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Not a production lending system without further validation, calibration, fairness testing, governance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477750" y="3114675"/>
            <a:ext cx="333375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14" b="true">
                <a:solidFill>
                  <a:srgbClr val="45C2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FUTURE WORK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477750" y="3600450"/>
            <a:ext cx="4762500" cy="2299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5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Threshold optimization</a:t>
            </a:r>
          </a:p>
          <a:p>
            <a:pPr algn="l">
              <a:lnSpc>
                <a:spcPts val="2070"/>
              </a:lnSpc>
            </a:pPr>
            <a:r>
              <a:rPr lang="en-US" sz="15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Probability calibration</a:t>
            </a:r>
          </a:p>
          <a:p>
            <a:pPr algn="l">
              <a:lnSpc>
                <a:spcPts val="2070"/>
              </a:lnSpc>
            </a:pPr>
            <a:r>
              <a:rPr lang="en-US" sz="15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Class imbalance techniques</a:t>
            </a:r>
          </a:p>
          <a:p>
            <a:pPr algn="l">
              <a:lnSpc>
                <a:spcPts val="2070"/>
              </a:lnSpc>
            </a:pPr>
            <a:r>
              <a:rPr lang="en-US" sz="15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More advanced models</a:t>
            </a:r>
          </a:p>
          <a:p>
            <a:pPr algn="l">
              <a:lnSpc>
                <a:spcPts val="2070"/>
              </a:lnSpc>
            </a:pPr>
            <a:r>
              <a:rPr lang="en-US" sz="15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LIME alongside SHAP</a:t>
            </a:r>
          </a:p>
          <a:p>
            <a:pPr algn="l">
              <a:lnSpc>
                <a:spcPts val="2070"/>
              </a:lnSpc>
            </a:pPr>
            <a:r>
              <a:rPr lang="en-US" sz="15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Bias/fairness analysis</a:t>
            </a:r>
          </a:p>
          <a:p>
            <a:pPr algn="l">
              <a:lnSpc>
                <a:spcPts val="2070"/>
              </a:lnSpc>
            </a:pPr>
            <a:r>
              <a:rPr lang="en-US" sz="15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Monitoring and drift detection</a:t>
            </a:r>
          </a:p>
          <a:p>
            <a:pPr algn="l">
              <a:lnSpc>
                <a:spcPts val="2070"/>
              </a:lnSpc>
            </a:pPr>
            <a:r>
              <a:rPr lang="en-US" sz="15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Automated regulatory reporting</a:t>
            </a:r>
          </a:p>
          <a:p>
            <a:pPr algn="l">
              <a:lnSpc>
                <a:spcPts val="2070"/>
              </a:lnSpc>
            </a:pPr>
            <a:r>
              <a:rPr lang="en-US" sz="15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Continuous deployment/model monitoring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2500" y="8020050"/>
            <a:ext cx="157162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45C2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KEY ACHIEVEMENTS  /  EDA • ENGINEERING • 3 MODELS • TUNING • CV • SHAP • API • DASHBOARD • DOCKER • RAILWAY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2500" y="8610600"/>
            <a:ext cx="12382500" cy="54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5"/>
              </a:lnSpc>
            </a:pPr>
            <a:r>
              <a:rPr lang="en-US" sz="322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  /  Questions?</a:t>
            </a:r>
          </a:p>
        </p:txBody>
      </p:sp>
      <p:sp>
        <p:nvSpPr>
          <p:cNvPr name="AutoShape 15" id="15"/>
          <p:cNvSpPr/>
          <p:nvPr/>
        </p:nvSpPr>
        <p:spPr>
          <a:xfrm>
            <a:off x="857250" y="9563100"/>
            <a:ext cx="16573500" cy="0"/>
          </a:xfrm>
          <a:prstGeom prst="line">
            <a:avLst/>
          </a:prstGeom>
          <a:ln cap="flat" w="9525">
            <a:solidFill>
              <a:srgbClr val="27415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857250" y="9753600"/>
            <a:ext cx="857250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96" b="true">
                <a:solidFill>
                  <a:srgbClr val="8FA9C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CODE ROOM HUB  •  MACHINE LEARNING INTERNSHIP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573500" y="9705975"/>
            <a:ext cx="85725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95"/>
              </a:lnSpc>
            </a:pPr>
            <a:r>
              <a:rPr lang="en-US" sz="1425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DAHUKmTK89A</dc:identifier>
  <dcterms:modified xsi:type="dcterms:W3CDTF">2011-08-01T06:04:30Z</dcterms:modified>
  <cp:revision>1</cp:revision>
</cp:coreProperties>
</file>